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Fira Mono Medium"/>
      <p:regular r:id="rId201314"/>
    </p:embeddedFont>
    <p:embeddedFont>
      <p:font typeface="Fira Mono Bold"/>
      <p:regular r:id="rId201315"/>
    </p:embeddedFont>
    <p:embeddedFont>
      <p:font typeface="Fira Mono"/>
      <p:regular r:id="rId201316"/>
    </p:embeddedFont>
    <p:embeddedFont>
      <p:font typeface="Fira Sans"/>
      <p:regular r:id="rId201317"/>
    </p:embeddedFont>
    <p:embeddedFont>
      <p:font typeface="Fira Sans SemiBold"/>
      <p:regular r:id="rId201318"/>
    </p:embeddedFont>
    <p:embeddedFont>
      <p:font typeface="Fira Sans Bold"/>
      <p:regular r:id="rId2013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as a lifecycle problem: a process does not simply disappear. It must leave behind a meaningful status that another part of the system can receive and act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as the project definition. The important move is from an invisible termination event to a useful message that can be consumed by a parent, an operator, or a monitoring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Emphasize that termination is not an isolated operation: the operating system tracks the state, records the outcome, and creates the conditions for parent-side handling.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five callouts as a chain rather than five unrelated risks. The key teaching point is the zombie: the child is finished, but the parent has not yet collected the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 the mechanism from the limitation. The basic model is sound; its weakness is that the parent is responsible for the final handoff.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the middle step. The termination status is the handoff: it is generated by the child and operating system, then consumed by the parent through a wait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treat the APIs as a memorization list. Read the swimlane: the child or signal creates the event, the OS records it, and the parent selects the appropriate wait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code in execution order. The parent creates the child, the child prints and exits, the parent waits, and the macro checks that the status represents a normal exit before reading the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Balance the claim. Better termination handling provides real benefits, but exact behavior depends on the operating system and synchronization still has to be designed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reading the recap arrow from left to right. The final message is that termination is observable lifecycle behavior: execute, terminate, report, reap, and clean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4E8EE"/>
          </a:solidFill>
          <a:ln/>
        </p:spPr>
      </p:sp>
      <p:sp>
        <p:nvSpPr>
          <p:cNvPr id="3" name="Shape 1"/>
          <p:cNvSpPr/>
          <p:nvPr/>
        </p:nvSpPr>
        <p:spPr>
          <a:xfrm>
            <a:off x="0" y="0"/>
            <a:ext cx="12191695" cy="68580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1.png"/><Relationship Id="rId4" Type="http://schemas.openxmlformats.org/officeDocument/2006/relationships/image" Target="../media/image-1-1.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2.png"/><Relationship Id="rId5" Type="http://schemas.openxmlformats.org/officeDocument/2006/relationships/image" Target="../media/image-3-2.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812780" cy="6858000"/>
          </a:xfrm>
          <a:custGeom>
            <a:avLst/>
            <a:gdLst/>
            <a:ahLst/>
            <a:cxnLst/>
            <a:rect l="l" t="t" r="r" b="b"/>
            <a:pathLst>
              <a:path w="812780" h="6858000">
                <a:moveTo>
                  <a:pt x="26991" y="0"/>
                </a:moveTo>
                <a:lnTo>
                  <a:pt x="812780" y="0"/>
                </a:lnTo>
                <a:lnTo>
                  <a:pt x="812780" y="6858000"/>
                </a:lnTo>
                <a:lnTo>
                  <a:pt x="26991" y="6858000"/>
                </a:lnTo>
                <a:arcTo hR="26991" wR="26991" stAng="5400000" swAng="5400000"/>
                <a:lnTo>
                  <a:pt x="0" y="26991"/>
                </a:lnTo>
                <a:arcTo hR="26991" wR="26991" stAng="10800000" swAng="5400000"/>
                <a:close/>
              </a:path>
            </a:pathLst>
          </a:custGeom>
          <a:solidFill>
            <a:srgbClr val="F26B1D"/>
          </a:solidFill>
          <a:ln/>
        </p:spPr>
      </p:sp>
      <p:sp>
        <p:nvSpPr>
          <p:cNvPr id="3" name="Shape 1"/>
          <p:cNvSpPr/>
          <p:nvPr/>
        </p:nvSpPr>
        <p:spPr>
          <a:xfrm>
            <a:off x="812780" y="0"/>
            <a:ext cx="6299042" cy="6858000"/>
          </a:xfrm>
          <a:prstGeom prst="rect">
            <a:avLst/>
          </a:prstGeom>
          <a:solidFill>
            <a:srgbClr val="2B3544"/>
          </a:solidFill>
          <a:ln/>
        </p:spPr>
      </p:sp>
      <p:sp>
        <p:nvSpPr>
          <p:cNvPr id="4" name="Text 2"/>
          <p:cNvSpPr/>
          <p:nvPr/>
        </p:nvSpPr>
        <p:spPr>
          <a:xfrm>
            <a:off x="1244569" y="533400"/>
            <a:ext cx="6045049" cy="190500"/>
          </a:xfrm>
          <a:prstGeom prst="rect">
            <a:avLst/>
          </a:prstGeom>
          <a:noFill/>
          <a:ln/>
        </p:spPr>
        <p:txBody>
          <a:bodyPr wrap="none" lIns="0" tIns="0" rIns="0" bIns="0" rtlCol="0" anchor="t"/>
          <a:lstStyle/>
          <a:p>
            <a:pPr algn="l" indent="0" marL="0">
              <a:lnSpc>
                <a:spcPct val="100000"/>
              </a:lnSpc>
              <a:buNone/>
            </a:pPr>
            <a:r>
              <a:rPr lang="en-US" sz="1250" spc="25" kern="0" dirty="0">
                <a:solidFill>
                  <a:srgbClr val="8AB4F8"/>
                </a:solidFill>
                <a:latin typeface="Fira Mono Medium" pitchFamily="34" charset="0"/>
                <a:ea typeface="Fira Mono Medium" pitchFamily="34" charset="-122"/>
                <a:cs typeface="Fira Mono Medium" pitchFamily="34" charset="-120"/>
              </a:rPr>
              <a:t>OPERATING SYSTEMS</a:t>
            </a:r>
            <a:endParaRPr lang="en-US" sz="1250" dirty="0"/>
          </a:p>
        </p:txBody>
      </p:sp>
      <p:sp>
        <p:nvSpPr>
          <p:cNvPr id="5" name="Text 3"/>
          <p:cNvSpPr/>
          <p:nvPr/>
        </p:nvSpPr>
        <p:spPr>
          <a:xfrm>
            <a:off x="1244569" y="2205434"/>
            <a:ext cx="5435464" cy="2000250"/>
          </a:xfrm>
          <a:prstGeom prst="rect">
            <a:avLst/>
          </a:prstGeom>
          <a:noFill/>
          <a:ln/>
        </p:spPr>
        <p:txBody>
          <a:bodyPr wrap="square" lIns="0" tIns="0" rIns="0" bIns="0" rtlCol="0" anchor="t">
            <a:normAutofit/>
          </a:bodyPr>
          <a:lstStyle/>
          <a:p>
            <a:pPr algn="l" indent="0" marL="0">
              <a:lnSpc>
                <a:spcPct val="87000"/>
              </a:lnSpc>
              <a:buNone/>
            </a:pPr>
            <a:r>
              <a:rPr lang="en-US" sz="5000" spc="-75" kern="0" dirty="0">
                <a:solidFill>
                  <a:srgbClr val="E5EAF2"/>
                </a:solidFill>
                <a:latin typeface="Fira Sans SemiBold" pitchFamily="34" charset="0"/>
                <a:ea typeface="Fira Sans SemiBold" pitchFamily="34" charset="-122"/>
                <a:cs typeface="Fira Sans SemiBold" pitchFamily="34" charset="-120"/>
              </a:rPr>
              <a:t>Process</a:t>
            </a:r>
            <a:endParaRPr lang="en-US" sz="5000" dirty="0"/>
          </a:p>
          <a:p>
            <a:pPr algn="l" indent="0" marL="0">
              <a:lnSpc>
                <a:spcPct val="87000"/>
              </a:lnSpc>
              <a:buNone/>
            </a:pPr>
            <a:r>
              <a:rPr lang="en-US" sz="5000" spc="-75" kern="0" dirty="0">
                <a:solidFill>
                  <a:srgbClr val="E5EAF2"/>
                </a:solidFill>
                <a:latin typeface="Fira Sans SemiBold" pitchFamily="34" charset="0"/>
                <a:ea typeface="Fira Sans SemiBold" pitchFamily="34" charset="-122"/>
                <a:cs typeface="Fira Sans SemiBold" pitchFamily="34" charset="-120"/>
              </a:rPr>
              <a:t>Terminating</a:t>
            </a:r>
            <a:endParaRPr lang="en-US" sz="5000" dirty="0"/>
          </a:p>
          <a:p>
            <a:pPr algn="l" indent="0" marL="0">
              <a:lnSpc>
                <a:spcPct val="87000"/>
              </a:lnSpc>
              <a:buNone/>
            </a:pPr>
            <a:r>
              <a:rPr lang="en-US" sz="5000" spc="-75" kern="0" dirty="0">
                <a:solidFill>
                  <a:srgbClr val="E5EAF2"/>
                </a:solidFill>
                <a:latin typeface="Fira Sans SemiBold" pitchFamily="34" charset="0"/>
                <a:ea typeface="Fira Sans SemiBold" pitchFamily="34" charset="-122"/>
                <a:cs typeface="Fira Sans SemiBold" pitchFamily="34" charset="-120"/>
              </a:rPr>
              <a:t>Messages</a:t>
            </a:r>
            <a:endParaRPr lang="en-US" sz="5000" dirty="0"/>
          </a:p>
        </p:txBody>
      </p:sp>
      <p:sp>
        <p:nvSpPr>
          <p:cNvPr id="6" name="Text 4"/>
          <p:cNvSpPr/>
          <p:nvPr/>
        </p:nvSpPr>
        <p:spPr>
          <a:xfrm>
            <a:off x="1244569" y="4459684"/>
            <a:ext cx="5435464" cy="60444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E5EAF2"/>
                </a:solidFill>
                <a:latin typeface="Fira Sans" pitchFamily="34" charset="0"/>
                <a:ea typeface="Fira Sans" pitchFamily="34" charset="-122"/>
                <a:cs typeface="Fira Sans" pitchFamily="34" charset="-120"/>
              </a:rPr>
              <a:t>A systems-level view of exit status, parent–child handoff, and lifecycle cleanup.</a:t>
            </a:r>
            <a:endParaRPr lang="en-US" sz="1700" dirty="0"/>
          </a:p>
        </p:txBody>
      </p:sp>
      <p:sp>
        <p:nvSpPr>
          <p:cNvPr id="7" name="Text 5"/>
          <p:cNvSpPr/>
          <p:nvPr/>
        </p:nvSpPr>
        <p:spPr>
          <a:xfrm>
            <a:off x="1244569" y="5292725"/>
            <a:ext cx="5435464" cy="1031875"/>
          </a:xfrm>
          <a:prstGeom prst="rect">
            <a:avLst/>
          </a:prstGeom>
          <a:noFill/>
          <a:ln/>
        </p:spPr>
        <p:txBody>
          <a:bodyPr wrap="square" lIns="0" tIns="0" rIns="0" bIns="0" rtlCol="0" anchor="t">
            <a:normAutofit/>
          </a:bodyPr>
          <a:lstStyle/>
          <a:p>
            <a:pPr algn="l" indent="0" marL="0">
              <a:lnSpc>
                <a:spcPct val="108000"/>
              </a:lnSpc>
              <a:buNone/>
            </a:pPr>
            <a:r>
              <a:rPr lang="en-US" sz="1250" dirty="0">
                <a:solidFill>
                  <a:srgbClr val="94A1B3"/>
                </a:solidFill>
                <a:latin typeface="Fira Sans" pitchFamily="34" charset="0"/>
                <a:ea typeface="Fira Sans" pitchFamily="34" charset="-122"/>
                <a:cs typeface="Fira Sans" pitchFamily="34" charset="-120"/>
              </a:rPr>
              <a:t>Presented by:</a:t>
            </a:r>
            <a:endParaRPr lang="en-US" sz="1250" dirty="0"/>
          </a:p>
          <a:p>
            <a:pPr algn="l" indent="0" marL="0">
              <a:lnSpc>
                <a:spcPct val="108000"/>
              </a:lnSpc>
              <a:buNone/>
            </a:pPr>
            <a:r>
              <a:rPr lang="en-US" sz="1250" dirty="0">
                <a:solidFill>
                  <a:srgbClr val="94A1B3"/>
                </a:solidFill>
                <a:latin typeface="Fira Sans" pitchFamily="34" charset="0"/>
                <a:ea typeface="Fira Sans" pitchFamily="34" charset="-122"/>
                <a:cs typeface="Fira Sans" pitchFamily="34" charset="-120"/>
              </a:rPr>
              <a:t>Section No. 4 · Team No. 03</a:t>
            </a:r>
            <a:endParaRPr lang="en-US" sz="1250" dirty="0"/>
          </a:p>
          <a:p>
            <a:pPr algn="l" indent="0" marL="0">
              <a:lnSpc>
                <a:spcPct val="108000"/>
              </a:lnSpc>
              <a:buNone/>
            </a:pPr>
            <a:r>
              <a:rPr lang="en-US" sz="1250" dirty="0">
                <a:solidFill>
                  <a:srgbClr val="94A1B3"/>
                </a:solidFill>
                <a:latin typeface="Fira Sans" pitchFamily="34" charset="0"/>
                <a:ea typeface="Fira Sans" pitchFamily="34" charset="-122"/>
                <a:cs typeface="Fira Sans" pitchFamily="34" charset="-120"/>
              </a:rPr>
              <a:t>2520030355 — Ch. Suraj Reddy</a:t>
            </a:r>
            <a:endParaRPr lang="en-US" sz="1250" dirty="0"/>
          </a:p>
          <a:p>
            <a:pPr algn="l" indent="0" marL="0">
              <a:lnSpc>
                <a:spcPct val="108000"/>
              </a:lnSpc>
              <a:buNone/>
            </a:pPr>
            <a:r>
              <a:rPr lang="en-US" sz="1250" dirty="0">
                <a:solidFill>
                  <a:srgbClr val="94A1B3"/>
                </a:solidFill>
                <a:latin typeface="Fira Sans" pitchFamily="34" charset="0"/>
                <a:ea typeface="Fira Sans" pitchFamily="34" charset="-122"/>
                <a:cs typeface="Fira Sans" pitchFamily="34" charset="-120"/>
              </a:rPr>
              <a:t>2520030213 — Kevin Josh</a:t>
            </a:r>
            <a:endParaRPr lang="en-US" sz="1250" dirty="0"/>
          </a:p>
          <a:p>
            <a:pPr algn="l" indent="0" marL="0">
              <a:lnSpc>
                <a:spcPct val="108000"/>
              </a:lnSpc>
              <a:buNone/>
            </a:pPr>
            <a:r>
              <a:rPr lang="en-US" sz="1250" dirty="0">
                <a:solidFill>
                  <a:srgbClr val="94A1B3"/>
                </a:solidFill>
                <a:latin typeface="Fira Sans" pitchFamily="34" charset="0"/>
                <a:ea typeface="Fira Sans" pitchFamily="34" charset="-122"/>
                <a:cs typeface="Fira Sans" pitchFamily="34" charset="-120"/>
              </a:rPr>
              <a:t>2520030387 — Vanka Vijay</a:t>
            </a:r>
            <a:endParaRPr lang="en-US" sz="1250" dirty="0"/>
          </a:p>
        </p:txBody>
      </p:sp>
      <p:sp>
        <p:nvSpPr>
          <p:cNvPr id="8" name="Text 6"/>
          <p:cNvSpPr/>
          <p:nvPr/>
        </p:nvSpPr>
        <p:spPr>
          <a:xfrm>
            <a:off x="7543611" y="152797"/>
            <a:ext cx="4648084" cy="302220"/>
          </a:xfrm>
          <a:prstGeom prst="rect">
            <a:avLst/>
          </a:prstGeom>
          <a:noFill/>
          <a:ln/>
        </p:spPr>
        <p:txBody>
          <a:bodyPr wrap="none" lIns="0" tIns="0" rIns="0" bIns="0" rtlCol="0" anchor="t"/>
          <a:lstStyle/>
          <a:p>
            <a:pPr algn="l" indent="0" marL="0">
              <a:lnSpc>
                <a:spcPct val="117000"/>
              </a:lnSpc>
              <a:buNone/>
            </a:pPr>
            <a:r>
              <a:rPr lang="en-US" sz="1700" spc="34" kern="0" dirty="0">
                <a:solidFill>
                  <a:srgbClr val="1F2937"/>
                </a:solidFill>
                <a:latin typeface="Fira Mono" pitchFamily="34" charset="0"/>
                <a:ea typeface="Fira Mono" pitchFamily="34" charset="-122"/>
                <a:cs typeface="Fira Mono" pitchFamily="34" charset="-120"/>
              </a:rPr>
              <a:t>PROCESS LIFECYCLE</a:t>
            </a:r>
            <a:endParaRPr lang="en-US" sz="1700" dirty="0"/>
          </a:p>
        </p:txBody>
      </p:sp>
      <p:pic>
        <p:nvPicPr>
          <p:cNvPr id="9" name="Image 0" descr="preencoded.png">    </p:cNvPr>
          <p:cNvPicPr>
            <a:picLocks noChangeAspect="1"/>
          </p:cNvPicPr>
          <p:nvPr/>
        </p:nvPicPr>
        <p:blipFill>
          <a:blip r:embed="rId1"/>
          <a:stretch>
            <a:fillRect/>
          </a:stretch>
        </p:blipFill>
        <p:spPr>
          <a:xfrm>
            <a:off x="7543611" y="683617"/>
            <a:ext cx="647684" cy="1428750"/>
          </a:xfrm>
          <a:prstGeom prst="rect">
            <a:avLst/>
          </a:prstGeom>
        </p:spPr>
      </p:pic>
      <p:sp>
        <p:nvSpPr>
          <p:cNvPr id="10" name="Text 7"/>
          <p:cNvSpPr/>
          <p:nvPr/>
        </p:nvSpPr>
        <p:spPr>
          <a:xfrm>
            <a:off x="8407190" y="899517"/>
            <a:ext cx="3352716" cy="321866"/>
          </a:xfrm>
          <a:prstGeom prst="rect">
            <a:avLst/>
          </a:prstGeom>
          <a:noFill/>
          <a:ln/>
        </p:spPr>
        <p:txBody>
          <a:bodyPr wrap="none" lIns="0" tIns="0" rIns="0" bIns="0" rtlCol="0" anchor="t"/>
          <a:lstStyle/>
          <a:p>
            <a:pPr algn="l" indent="0" marL="0">
              <a:lnSpc>
                <a:spcPct val="108000"/>
              </a:lnSpc>
              <a:buNone/>
            </a:pPr>
            <a:r>
              <a:rPr lang="en-US" sz="1950" spc="-19" kern="0" dirty="0">
                <a:solidFill>
                  <a:srgbClr val="1F2937"/>
                </a:solidFill>
                <a:latin typeface="Fira Sans SemiBold" pitchFamily="34" charset="0"/>
                <a:ea typeface="Fira Sans SemiBold" pitchFamily="34" charset="-122"/>
                <a:cs typeface="Fira Sans SemiBold" pitchFamily="34" charset="-120"/>
              </a:rPr>
              <a:t>Execute</a:t>
            </a:r>
            <a:endParaRPr lang="en-US" sz="1950" dirty="0"/>
          </a:p>
        </p:txBody>
      </p:sp>
      <p:sp>
        <p:nvSpPr>
          <p:cNvPr id="11" name="Text 8"/>
          <p:cNvSpPr/>
          <p:nvPr/>
        </p:nvSpPr>
        <p:spPr>
          <a:xfrm>
            <a:off x="8407190" y="1350863"/>
            <a:ext cx="3352716" cy="302220"/>
          </a:xfrm>
          <a:prstGeom prst="rect">
            <a:avLst/>
          </a:prstGeom>
          <a:noFill/>
          <a:ln/>
        </p:spPr>
        <p:txBody>
          <a:bodyPr wrap="none" lIns="0" tIns="0" rIns="0" bIns="0" rtlCol="0" anchor="t"/>
          <a:lstStyle/>
          <a:p>
            <a:pPr algn="l" indent="0" marL="0">
              <a:lnSpc>
                <a:spcPct val="117000"/>
              </a:lnSpc>
              <a:buNone/>
            </a:pPr>
            <a:r>
              <a:rPr lang="en-US" sz="1700" dirty="0">
                <a:solidFill>
                  <a:srgbClr val="1F2937"/>
                </a:solidFill>
                <a:latin typeface="Fira Sans" pitchFamily="34" charset="0"/>
                <a:ea typeface="Fira Sans" pitchFamily="34" charset="-122"/>
                <a:cs typeface="Fira Sans" pitchFamily="34" charset="-120"/>
              </a:rPr>
              <a:t>Task runs under an assigned PID.</a:t>
            </a:r>
            <a:endParaRPr lang="en-US" sz="1700" dirty="0"/>
          </a:p>
        </p:txBody>
      </p:sp>
      <p:pic>
        <p:nvPicPr>
          <p:cNvPr id="12" name="Image 1" descr="preencoded.png">    </p:cNvPr>
          <p:cNvPicPr>
            <a:picLocks noChangeAspect="1"/>
          </p:cNvPicPr>
          <p:nvPr/>
        </p:nvPicPr>
        <p:blipFill>
          <a:blip r:embed="rId2"/>
          <a:stretch>
            <a:fillRect/>
          </a:stretch>
        </p:blipFill>
        <p:spPr>
          <a:xfrm>
            <a:off x="7867453" y="2194917"/>
            <a:ext cx="647684" cy="1428750"/>
          </a:xfrm>
          <a:prstGeom prst="rect">
            <a:avLst/>
          </a:prstGeom>
        </p:spPr>
      </p:pic>
      <p:sp>
        <p:nvSpPr>
          <p:cNvPr id="13" name="Text 9"/>
          <p:cNvSpPr/>
          <p:nvPr/>
        </p:nvSpPr>
        <p:spPr>
          <a:xfrm>
            <a:off x="8731032" y="2410817"/>
            <a:ext cx="3028874" cy="321866"/>
          </a:xfrm>
          <a:prstGeom prst="rect">
            <a:avLst/>
          </a:prstGeom>
          <a:noFill/>
          <a:ln/>
        </p:spPr>
        <p:txBody>
          <a:bodyPr wrap="none" lIns="0" tIns="0" rIns="0" bIns="0" rtlCol="0" anchor="t"/>
          <a:lstStyle/>
          <a:p>
            <a:pPr algn="l" indent="0" marL="0">
              <a:lnSpc>
                <a:spcPct val="108000"/>
              </a:lnSpc>
              <a:buNone/>
            </a:pPr>
            <a:r>
              <a:rPr lang="en-US" sz="1950" spc="-19" kern="0" dirty="0">
                <a:solidFill>
                  <a:srgbClr val="1F2937"/>
                </a:solidFill>
                <a:latin typeface="Fira Sans SemiBold" pitchFamily="34" charset="0"/>
                <a:ea typeface="Fira Sans SemiBold" pitchFamily="34" charset="-122"/>
                <a:cs typeface="Fira Sans SemiBold" pitchFamily="34" charset="-120"/>
              </a:rPr>
              <a:t>Terminate</a:t>
            </a:r>
            <a:endParaRPr lang="en-US" sz="1950" dirty="0"/>
          </a:p>
        </p:txBody>
      </p:sp>
      <p:sp>
        <p:nvSpPr>
          <p:cNvPr id="14" name="Text 10"/>
          <p:cNvSpPr/>
          <p:nvPr/>
        </p:nvSpPr>
        <p:spPr>
          <a:xfrm>
            <a:off x="8731032" y="2862163"/>
            <a:ext cx="3028874" cy="60444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F2937"/>
                </a:solidFill>
                <a:latin typeface="Fira Sans" pitchFamily="34" charset="0"/>
                <a:ea typeface="Fira Sans" pitchFamily="34" charset="-122"/>
                <a:cs typeface="Fira Sans" pitchFamily="34" charset="-120"/>
              </a:rPr>
              <a:t>Completion, error, signal, or request.</a:t>
            </a:r>
            <a:endParaRPr lang="en-US" sz="1700" dirty="0"/>
          </a:p>
        </p:txBody>
      </p:sp>
      <p:pic>
        <p:nvPicPr>
          <p:cNvPr id="15" name="Image 2" descr="preencoded.png">    </p:cNvPr>
          <p:cNvPicPr>
            <a:picLocks noChangeAspect="1"/>
          </p:cNvPicPr>
          <p:nvPr/>
        </p:nvPicPr>
        <p:blipFill>
          <a:blip r:embed="rId3"/>
          <a:stretch>
            <a:fillRect/>
          </a:stretch>
        </p:blipFill>
        <p:spPr>
          <a:xfrm>
            <a:off x="8191295" y="3898404"/>
            <a:ext cx="647684" cy="1428750"/>
          </a:xfrm>
          <a:prstGeom prst="rect">
            <a:avLst/>
          </a:prstGeom>
        </p:spPr>
      </p:pic>
      <p:sp>
        <p:nvSpPr>
          <p:cNvPr id="16" name="Text 11"/>
          <p:cNvSpPr/>
          <p:nvPr/>
        </p:nvSpPr>
        <p:spPr>
          <a:xfrm>
            <a:off x="9054873" y="4114304"/>
            <a:ext cx="2705032" cy="321866"/>
          </a:xfrm>
          <a:prstGeom prst="rect">
            <a:avLst/>
          </a:prstGeom>
          <a:noFill/>
          <a:ln/>
        </p:spPr>
        <p:txBody>
          <a:bodyPr wrap="none" lIns="0" tIns="0" rIns="0" bIns="0" rtlCol="0" anchor="t"/>
          <a:lstStyle/>
          <a:p>
            <a:pPr algn="l" indent="0" marL="0">
              <a:lnSpc>
                <a:spcPct val="108000"/>
              </a:lnSpc>
              <a:buNone/>
            </a:pPr>
            <a:r>
              <a:rPr lang="en-US" sz="1950" spc="-19" kern="0" dirty="0">
                <a:solidFill>
                  <a:srgbClr val="1F2937"/>
                </a:solidFill>
                <a:latin typeface="Fira Sans SemiBold" pitchFamily="34" charset="0"/>
                <a:ea typeface="Fira Sans SemiBold" pitchFamily="34" charset="-122"/>
                <a:cs typeface="Fira Sans SemiBold" pitchFamily="34" charset="-120"/>
              </a:rPr>
              <a:t>Report</a:t>
            </a:r>
            <a:endParaRPr lang="en-US" sz="1950" dirty="0"/>
          </a:p>
        </p:txBody>
      </p:sp>
      <p:sp>
        <p:nvSpPr>
          <p:cNvPr id="17" name="Text 12"/>
          <p:cNvSpPr/>
          <p:nvPr/>
        </p:nvSpPr>
        <p:spPr>
          <a:xfrm>
            <a:off x="9054873" y="4565650"/>
            <a:ext cx="2705032" cy="302220"/>
          </a:xfrm>
          <a:prstGeom prst="rect">
            <a:avLst/>
          </a:prstGeom>
          <a:noFill/>
          <a:ln/>
        </p:spPr>
        <p:txBody>
          <a:bodyPr wrap="none" lIns="0" tIns="0" rIns="0" bIns="0" rtlCol="0" anchor="t"/>
          <a:lstStyle/>
          <a:p>
            <a:pPr algn="l" indent="0" marL="0">
              <a:lnSpc>
                <a:spcPct val="117000"/>
              </a:lnSpc>
              <a:buNone/>
            </a:pPr>
            <a:r>
              <a:rPr lang="en-US" sz="1700" dirty="0">
                <a:solidFill>
                  <a:srgbClr val="1F2937"/>
                </a:solidFill>
                <a:latin typeface="Fira Sans" pitchFamily="34" charset="0"/>
                <a:ea typeface="Fira Sans" pitchFamily="34" charset="-122"/>
                <a:cs typeface="Fira Sans" pitchFamily="34" charset="-120"/>
              </a:rPr>
              <a:t>Status becomes a message.</a:t>
            </a:r>
            <a:endParaRPr lang="en-US" sz="1700" dirty="0"/>
          </a:p>
        </p:txBody>
      </p:sp>
      <p:pic>
        <p:nvPicPr>
          <p:cNvPr id="18" name="Image 3" descr="preencoded.png">    </p:cNvPr>
          <p:cNvPicPr>
            <a:picLocks noChangeAspect="1"/>
          </p:cNvPicPr>
          <p:nvPr/>
        </p:nvPicPr>
        <p:blipFill>
          <a:blip r:embed="rId4"/>
          <a:stretch>
            <a:fillRect/>
          </a:stretch>
        </p:blipFill>
        <p:spPr>
          <a:xfrm>
            <a:off x="8515137" y="5409704"/>
            <a:ext cx="647684" cy="1428750"/>
          </a:xfrm>
          <a:prstGeom prst="rect">
            <a:avLst/>
          </a:prstGeom>
        </p:spPr>
      </p:pic>
      <p:sp>
        <p:nvSpPr>
          <p:cNvPr id="19" name="Text 13"/>
          <p:cNvSpPr/>
          <p:nvPr/>
        </p:nvSpPr>
        <p:spPr>
          <a:xfrm>
            <a:off x="9378715" y="5625604"/>
            <a:ext cx="2381190" cy="321866"/>
          </a:xfrm>
          <a:prstGeom prst="rect">
            <a:avLst/>
          </a:prstGeom>
          <a:noFill/>
          <a:ln/>
        </p:spPr>
        <p:txBody>
          <a:bodyPr wrap="none" lIns="0" tIns="0" rIns="0" bIns="0" rtlCol="0" anchor="t"/>
          <a:lstStyle/>
          <a:p>
            <a:pPr algn="l" indent="0" marL="0">
              <a:lnSpc>
                <a:spcPct val="108000"/>
              </a:lnSpc>
              <a:buNone/>
            </a:pPr>
            <a:r>
              <a:rPr lang="en-US" sz="1950" spc="-19" kern="0" dirty="0">
                <a:solidFill>
                  <a:srgbClr val="1F2937"/>
                </a:solidFill>
                <a:latin typeface="Fira Sans SemiBold" pitchFamily="34" charset="0"/>
                <a:ea typeface="Fira Sans SemiBold" pitchFamily="34" charset="-122"/>
                <a:cs typeface="Fira Sans SemiBold" pitchFamily="34" charset="-120"/>
              </a:rPr>
              <a:t>Reap</a:t>
            </a:r>
            <a:endParaRPr lang="en-US" sz="1950" dirty="0"/>
          </a:p>
        </p:txBody>
      </p:sp>
      <p:sp>
        <p:nvSpPr>
          <p:cNvPr id="20" name="Text 14"/>
          <p:cNvSpPr/>
          <p:nvPr/>
        </p:nvSpPr>
        <p:spPr>
          <a:xfrm>
            <a:off x="9378715" y="6076950"/>
            <a:ext cx="2381190" cy="302220"/>
          </a:xfrm>
          <a:prstGeom prst="rect">
            <a:avLst/>
          </a:prstGeom>
          <a:noFill/>
          <a:ln/>
        </p:spPr>
        <p:txBody>
          <a:bodyPr wrap="none" lIns="0" tIns="0" rIns="0" bIns="0" rtlCol="0" anchor="t"/>
          <a:lstStyle/>
          <a:p>
            <a:pPr algn="l" indent="0" marL="0">
              <a:lnSpc>
                <a:spcPct val="117000"/>
              </a:lnSpc>
              <a:buNone/>
            </a:pPr>
            <a:r>
              <a:rPr lang="en-US" sz="1700" dirty="0">
                <a:solidFill>
                  <a:srgbClr val="1F2937"/>
                </a:solidFill>
                <a:latin typeface="Fira Sans" pitchFamily="34" charset="0"/>
                <a:ea typeface="Fira Sans" pitchFamily="34" charset="-122"/>
                <a:cs typeface="Fira Sans" pitchFamily="34" charset="-120"/>
              </a:rPr>
              <a:t>Parent collects status.</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189" y="457200"/>
            <a:ext cx="1859313" cy="525760"/>
          </a:xfrm>
          <a:prstGeom prst="rect">
            <a:avLst/>
          </a:prstGeom>
          <a:noFill/>
          <a:ln/>
        </p:spPr>
        <p:txBody>
          <a:bodyPr wrap="none" lIns="0" tIns="0" rIns="0" bIns="0" rtlCol="0" anchor="t"/>
          <a:lstStyle/>
          <a:p>
            <a:pPr algn="l" indent="0" marL="0">
              <a:lnSpc>
                <a:spcPct val="96000"/>
              </a:lnSpc>
              <a:buNone/>
            </a:pPr>
            <a:r>
              <a:rPr lang="en-US" sz="3600" spc="-36" kern="0" dirty="0">
                <a:solidFill>
                  <a:srgbClr val="1F2937"/>
                </a:solidFill>
                <a:latin typeface="Fira Sans SemiBold" pitchFamily="34" charset="0"/>
                <a:ea typeface="Fira Sans SemiBold" pitchFamily="34" charset="-122"/>
                <a:cs typeface="Fira Sans SemiBold" pitchFamily="34" charset="-120"/>
              </a:rPr>
              <a:t>Abstract</a:t>
            </a:r>
            <a:endParaRPr lang="en-US" sz="3600" dirty="0"/>
          </a:p>
        </p:txBody>
      </p:sp>
      <p:sp>
        <p:nvSpPr>
          <p:cNvPr id="3" name="Text 1"/>
          <p:cNvSpPr/>
          <p:nvPr/>
        </p:nvSpPr>
        <p:spPr>
          <a:xfrm>
            <a:off x="3535572" y="457200"/>
            <a:ext cx="8198935" cy="5861943"/>
          </a:xfrm>
          <a:prstGeom prst="rect">
            <a:avLst/>
          </a:prstGeom>
          <a:noFill/>
          <a:ln/>
        </p:spPr>
        <p:txBody>
          <a:bodyPr wrap="square" lIns="0" tIns="0" rIns="0" bIns="0" rtlCol="0" anchor="t">
            <a:normAutofit/>
          </a:bodyPr>
          <a:lstStyle/>
          <a:p>
            <a:pPr algn="l" indent="0" marL="0">
              <a:lnSpc>
                <a:spcPct val="117000"/>
              </a:lnSpc>
              <a:spcAft>
                <a:spcPts val="1750"/>
              </a:spcAft>
              <a:buNone/>
            </a:pPr>
            <a:r>
              <a:rPr lang="en-US" sz="1600" dirty="0">
                <a:solidFill>
                  <a:srgbClr val="1F2937"/>
                </a:solidFill>
                <a:latin typeface="Fira Sans" pitchFamily="34" charset="0"/>
                <a:ea typeface="Fira Sans" pitchFamily="34" charset="-122"/>
                <a:cs typeface="Fira Sans" pitchFamily="34" charset="-120"/>
              </a:rPr>
              <a:t>Process Terminating Messages is a system-level concept that focuses on the communication and notification mechanisms used when a process is terminated in an operating system. A process may terminate normally after completing its assigned task or may be terminated due to errors, resource limitations, user actions, or system-level requirements. When a process terminates, it is important to provide appropriate information about the reason and status of termination to users, system administrators, or other processes.</a:t>
            </a:r>
            <a:endParaRPr lang="en-US" sz="1600" dirty="0"/>
          </a:p>
          <a:p>
            <a:pPr algn="l" indent="0" marL="0">
              <a:lnSpc>
                <a:spcPct val="117000"/>
              </a:lnSpc>
              <a:spcAft>
                <a:spcPts val="1750"/>
              </a:spcAft>
              <a:buNone/>
            </a:pPr>
            <a:r>
              <a:rPr lang="en-US" sz="1600" dirty="0">
                <a:solidFill>
                  <a:srgbClr val="1F2937"/>
                </a:solidFill>
                <a:latin typeface="Fira Sans" pitchFamily="34" charset="0"/>
                <a:ea typeface="Fira Sans" pitchFamily="34" charset="-122"/>
                <a:cs typeface="Fira Sans" pitchFamily="34" charset="-120"/>
              </a:rPr>
              <a:t>The proposed system demonstrates how terminating messages can be generated and handled during the process life cycle. It can display messages such as successful completion, abnormal termination, termination by the user, or termination due to an error. The system can use operating-system process management concepts such as process IDs, parent and child processes, exit status, signals, and system calls to monitor and communicate process termination events.</a:t>
            </a:r>
            <a:endParaRPr lang="en-US" sz="1600" dirty="0"/>
          </a:p>
          <a:p>
            <a:pPr algn="l" indent="0" marL="0">
              <a:lnSpc>
                <a:spcPct val="117000"/>
              </a:lnSpc>
              <a:buNone/>
            </a:pPr>
            <a:r>
              <a:rPr lang="en-US" sz="1600" dirty="0">
                <a:solidFill>
                  <a:srgbClr val="1F2937"/>
                </a:solidFill>
                <a:latin typeface="Fira Sans" pitchFamily="34" charset="0"/>
                <a:ea typeface="Fira Sans" pitchFamily="34" charset="-122"/>
                <a:cs typeface="Fira Sans" pitchFamily="34" charset="-120"/>
              </a:rPr>
              <a:t>This project helps in understanding how operating systems manage processes and how termination information is transferred between processes and the operating system. It also improves error identification, process monitoring, and system reliability by providing meaningful termination messages. The concept can be useful in operating-system monitoring tools, server applications, background services, and debugging systems where knowing why and when a process terminated is important.</a:t>
            </a:r>
            <a:endParaRPr lang="en-US" sz="1600" dirty="0"/>
          </a:p>
        </p:txBody>
      </p:sp>
      <p:sp>
        <p:nvSpPr>
          <p:cNvPr id="4" name="Text 2"/>
          <p:cNvSpPr/>
          <p:nvPr/>
        </p:nvSpPr>
        <p:spPr>
          <a:xfrm>
            <a:off x="11656225" y="6531570"/>
            <a:ext cx="535470" cy="195560"/>
          </a:xfrm>
          <a:prstGeom prst="rect">
            <a:avLst/>
          </a:prstGeom>
          <a:noFill/>
          <a:ln/>
        </p:spPr>
        <p:txBody>
          <a:bodyPr wrap="none" lIns="0" tIns="0" rIns="0" bIns="0" rtlCol="0" anchor="ctr"/>
          <a:lstStyle/>
          <a:p>
            <a:pPr algn="l" indent="0" marL="0">
              <a:lnSpc>
                <a:spcPct val="117000"/>
              </a:lnSpc>
              <a:buNone/>
            </a:pPr>
            <a:r>
              <a:rPr lang="en-US" sz="1100" dirty="0">
                <a:solidFill>
                  <a:srgbClr val="1F2937"/>
                </a:solidFill>
                <a:latin typeface="Fira Sans" pitchFamily="34" charset="0"/>
                <a:ea typeface="Fira Sans" pitchFamily="34" charset="-122"/>
                <a:cs typeface="Fira Sans"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189" y="457200"/>
            <a:ext cx="11734506" cy="302220"/>
          </a:xfrm>
          <a:prstGeom prst="rect">
            <a:avLst/>
          </a:prstGeom>
          <a:noFill/>
          <a:ln/>
        </p:spPr>
        <p:txBody>
          <a:bodyPr wrap="none" lIns="0" tIns="0" rIns="0" bIns="0" rtlCol="0" anchor="t"/>
          <a:lstStyle/>
          <a:p>
            <a:pPr algn="l" indent="0" marL="0">
              <a:lnSpc>
                <a:spcPct val="117000"/>
              </a:lnSpc>
              <a:buNone/>
            </a:pPr>
            <a:r>
              <a:rPr lang="en-US" sz="1700" spc="34" kern="0" dirty="0">
                <a:solidFill>
                  <a:srgbClr val="1F2937"/>
                </a:solidFill>
                <a:latin typeface="Fira Mono" pitchFamily="34" charset="0"/>
                <a:ea typeface="Fira Mono" pitchFamily="34" charset="-122"/>
                <a:cs typeface="Fira Mono" pitchFamily="34" charset="-120"/>
              </a:rPr>
              <a:t>THE LIFECYCLE</a:t>
            </a:r>
            <a:endParaRPr lang="en-US" sz="1700" dirty="0"/>
          </a:p>
        </p:txBody>
      </p:sp>
      <p:sp>
        <p:nvSpPr>
          <p:cNvPr id="3" name="Text 1"/>
          <p:cNvSpPr/>
          <p:nvPr/>
        </p:nvSpPr>
        <p:spPr>
          <a:xfrm>
            <a:off x="457189" y="1194395"/>
            <a:ext cx="11277318" cy="408880"/>
          </a:xfrm>
          <a:prstGeom prst="rect">
            <a:avLst/>
          </a:prstGeom>
          <a:noFill/>
          <a:ln/>
        </p:spPr>
        <p:txBody>
          <a:bodyPr wrap="none" lIns="0" tIns="0" rIns="0" bIns="0" rtlCol="0" anchor="t"/>
          <a:lstStyle/>
          <a:p>
            <a:pPr algn="l" indent="0" marL="0">
              <a:lnSpc>
                <a:spcPct val="96000"/>
              </a:lnSpc>
              <a:buNone/>
            </a:pPr>
            <a:r>
              <a:rPr lang="en-US" sz="2800" spc="-28" kern="0" dirty="0">
                <a:solidFill>
                  <a:srgbClr val="1F2937"/>
                </a:solidFill>
                <a:latin typeface="Fira Sans SemiBold" pitchFamily="34" charset="0"/>
                <a:ea typeface="Fira Sans SemiBold" pitchFamily="34" charset="-122"/>
                <a:cs typeface="Fira Sans SemiBold" pitchFamily="34" charset="-120"/>
              </a:rPr>
              <a:t>A process moves through states before it ends</a:t>
            </a:r>
            <a:endParaRPr lang="en-US" sz="2800" dirty="0"/>
          </a:p>
        </p:txBody>
      </p:sp>
      <p:sp>
        <p:nvSpPr>
          <p:cNvPr id="4" name="Text 2"/>
          <p:cNvSpPr/>
          <p:nvPr/>
        </p:nvSpPr>
        <p:spPr>
          <a:xfrm>
            <a:off x="457189" y="1857276"/>
            <a:ext cx="11734506" cy="302220"/>
          </a:xfrm>
          <a:prstGeom prst="rect">
            <a:avLst/>
          </a:prstGeom>
          <a:noFill/>
          <a:ln/>
        </p:spPr>
        <p:txBody>
          <a:bodyPr wrap="none" lIns="0" tIns="0" rIns="0" bIns="0" rtlCol="0" anchor="t"/>
          <a:lstStyle/>
          <a:p>
            <a:pPr algn="l" indent="0" marL="0">
              <a:lnSpc>
                <a:spcPct val="117000"/>
              </a:lnSpc>
              <a:buNone/>
            </a:pPr>
            <a:r>
              <a:rPr lang="en-US" sz="1700" dirty="0">
                <a:solidFill>
                  <a:srgbClr val="1F2937"/>
                </a:solidFill>
                <a:latin typeface="Fira Sans" pitchFamily="34" charset="0"/>
                <a:ea typeface="Fira Sans" pitchFamily="34" charset="-122"/>
                <a:cs typeface="Fira Sans" pitchFamily="34" charset="-120"/>
              </a:rPr>
              <a:t>Termination is one state transition in a larger operating-system story.</a:t>
            </a:r>
            <a:endParaRPr lang="en-US" sz="1700" dirty="0"/>
          </a:p>
        </p:txBody>
      </p:sp>
      <p:pic>
        <p:nvPicPr>
          <p:cNvPr id="5" name="Image 0" descr="preencoded.png">    </p:cNvPr>
          <p:cNvPicPr>
            <a:picLocks noChangeAspect="1"/>
          </p:cNvPicPr>
          <p:nvPr/>
        </p:nvPicPr>
        <p:blipFill>
          <a:blip r:embed="rId1"/>
          <a:stretch>
            <a:fillRect/>
          </a:stretch>
        </p:blipFill>
        <p:spPr>
          <a:xfrm>
            <a:off x="457189" y="3348434"/>
            <a:ext cx="539736" cy="539750"/>
          </a:xfrm>
          <a:prstGeom prst="rect">
            <a:avLst/>
          </a:prstGeom>
        </p:spPr>
      </p:pic>
      <p:sp>
        <p:nvSpPr>
          <p:cNvPr id="6" name="Text 3"/>
          <p:cNvSpPr/>
          <p:nvPr/>
        </p:nvSpPr>
        <p:spPr>
          <a:xfrm>
            <a:off x="457189" y="4116784"/>
            <a:ext cx="2026790" cy="321866"/>
          </a:xfrm>
          <a:prstGeom prst="rect">
            <a:avLst/>
          </a:prstGeom>
          <a:noFill/>
          <a:ln/>
        </p:spPr>
        <p:txBody>
          <a:bodyPr wrap="none" lIns="0" tIns="0" rIns="0" bIns="0" rtlCol="0" anchor="t"/>
          <a:lstStyle/>
          <a:p>
            <a:pPr algn="l" indent="0" marL="0">
              <a:lnSpc>
                <a:spcPct val="108000"/>
              </a:lnSpc>
              <a:buNone/>
            </a:pPr>
            <a:r>
              <a:rPr lang="en-US" sz="1950" dirty="0">
                <a:solidFill>
                  <a:srgbClr val="1F2937"/>
                </a:solidFill>
                <a:latin typeface="Fira Sans" pitchFamily="34" charset="0"/>
                <a:ea typeface="Fira Sans" pitchFamily="34" charset="-122"/>
                <a:cs typeface="Fira Sans" pitchFamily="34" charset="-120"/>
              </a:rPr>
              <a:t>New</a:t>
            </a:r>
            <a:endParaRPr lang="en-US" sz="1950" dirty="0"/>
          </a:p>
        </p:txBody>
      </p:sp>
      <p:pic>
        <p:nvPicPr>
          <p:cNvPr id="7" name="Image 1" descr="preencoded.png">    </p:cNvPr>
          <p:cNvPicPr>
            <a:picLocks noChangeAspect="1"/>
          </p:cNvPicPr>
          <p:nvPr/>
        </p:nvPicPr>
        <p:blipFill>
          <a:blip r:embed="rId2"/>
          <a:stretch>
            <a:fillRect/>
          </a:stretch>
        </p:blipFill>
        <p:spPr>
          <a:xfrm>
            <a:off x="2941167" y="3348434"/>
            <a:ext cx="539736" cy="539750"/>
          </a:xfrm>
          <a:prstGeom prst="rect">
            <a:avLst/>
          </a:prstGeom>
        </p:spPr>
      </p:pic>
      <p:sp>
        <p:nvSpPr>
          <p:cNvPr id="8" name="Text 4"/>
          <p:cNvSpPr/>
          <p:nvPr/>
        </p:nvSpPr>
        <p:spPr>
          <a:xfrm>
            <a:off x="2941167" y="4116784"/>
            <a:ext cx="1798295" cy="321866"/>
          </a:xfrm>
          <a:prstGeom prst="rect">
            <a:avLst/>
          </a:prstGeom>
          <a:noFill/>
          <a:ln/>
        </p:spPr>
        <p:txBody>
          <a:bodyPr wrap="none" lIns="0" tIns="0" rIns="0" bIns="0" rtlCol="0" anchor="t"/>
          <a:lstStyle/>
          <a:p>
            <a:pPr algn="l" indent="0" marL="0">
              <a:lnSpc>
                <a:spcPct val="108000"/>
              </a:lnSpc>
              <a:buNone/>
            </a:pPr>
            <a:r>
              <a:rPr lang="en-US" sz="1950" dirty="0">
                <a:solidFill>
                  <a:srgbClr val="1F2937"/>
                </a:solidFill>
                <a:latin typeface="Fira Sans" pitchFamily="34" charset="0"/>
                <a:ea typeface="Fira Sans" pitchFamily="34" charset="-122"/>
                <a:cs typeface="Fira Sans" pitchFamily="34" charset="-120"/>
              </a:rPr>
              <a:t>Ready</a:t>
            </a:r>
            <a:endParaRPr lang="en-US" sz="1950" dirty="0"/>
          </a:p>
        </p:txBody>
      </p:sp>
      <p:sp>
        <p:nvSpPr>
          <p:cNvPr id="9" name="Shape 5"/>
          <p:cNvSpPr/>
          <p:nvPr/>
        </p:nvSpPr>
        <p:spPr>
          <a:xfrm>
            <a:off x="4968056" y="3119834"/>
            <a:ext cx="2255483" cy="1547416"/>
          </a:xfrm>
          <a:prstGeom prst="rect">
            <a:avLst/>
          </a:prstGeom>
          <a:solidFill>
            <a:srgbClr val="8AB4F8"/>
          </a:solidFill>
          <a:ln/>
        </p:spPr>
      </p:sp>
      <p:pic>
        <p:nvPicPr>
          <p:cNvPr id="10" name="Image 2" descr="preencoded.png">    </p:cNvPr>
          <p:cNvPicPr>
            <a:picLocks noChangeAspect="1"/>
          </p:cNvPicPr>
          <p:nvPr/>
        </p:nvPicPr>
        <p:blipFill>
          <a:blip r:embed="rId3"/>
          <a:stretch>
            <a:fillRect/>
          </a:stretch>
        </p:blipFill>
        <p:spPr>
          <a:xfrm>
            <a:off x="5196650" y="3348434"/>
            <a:ext cx="539736" cy="539750"/>
          </a:xfrm>
          <a:prstGeom prst="rect">
            <a:avLst/>
          </a:prstGeom>
        </p:spPr>
      </p:pic>
      <p:sp>
        <p:nvSpPr>
          <p:cNvPr id="11" name="Text 6"/>
          <p:cNvSpPr/>
          <p:nvPr/>
        </p:nvSpPr>
        <p:spPr>
          <a:xfrm>
            <a:off x="5196650" y="4116784"/>
            <a:ext cx="1798295" cy="321866"/>
          </a:xfrm>
          <a:prstGeom prst="rect">
            <a:avLst/>
          </a:prstGeom>
          <a:noFill/>
          <a:ln/>
        </p:spPr>
        <p:txBody>
          <a:bodyPr wrap="none" lIns="0" tIns="0" rIns="0" bIns="0" rtlCol="0" anchor="t"/>
          <a:lstStyle/>
          <a:p>
            <a:pPr algn="l" indent="0" marL="0">
              <a:lnSpc>
                <a:spcPct val="108000"/>
              </a:lnSpc>
              <a:buNone/>
            </a:pPr>
            <a:r>
              <a:rPr lang="en-US" sz="1950" dirty="0">
                <a:solidFill>
                  <a:srgbClr val="000000"/>
                </a:solidFill>
                <a:latin typeface="Fira Sans" pitchFamily="34" charset="0"/>
                <a:ea typeface="Fira Sans" pitchFamily="34" charset="-122"/>
                <a:cs typeface="Fira Sans" pitchFamily="34" charset="-120"/>
              </a:rPr>
              <a:t>Running</a:t>
            </a:r>
            <a:endParaRPr lang="en-US" sz="1950" dirty="0"/>
          </a:p>
        </p:txBody>
      </p:sp>
      <p:pic>
        <p:nvPicPr>
          <p:cNvPr id="12" name="Image 3" descr="preencoded.png">    </p:cNvPr>
          <p:cNvPicPr>
            <a:picLocks noChangeAspect="1"/>
          </p:cNvPicPr>
          <p:nvPr/>
        </p:nvPicPr>
        <p:blipFill>
          <a:blip r:embed="rId4"/>
          <a:stretch>
            <a:fillRect/>
          </a:stretch>
        </p:blipFill>
        <p:spPr>
          <a:xfrm>
            <a:off x="7452134" y="3348434"/>
            <a:ext cx="539736" cy="539750"/>
          </a:xfrm>
          <a:prstGeom prst="rect">
            <a:avLst/>
          </a:prstGeom>
        </p:spPr>
      </p:pic>
      <p:sp>
        <p:nvSpPr>
          <p:cNvPr id="13" name="Text 7"/>
          <p:cNvSpPr/>
          <p:nvPr/>
        </p:nvSpPr>
        <p:spPr>
          <a:xfrm>
            <a:off x="7452134" y="4116784"/>
            <a:ext cx="1798295" cy="321866"/>
          </a:xfrm>
          <a:prstGeom prst="rect">
            <a:avLst/>
          </a:prstGeom>
          <a:noFill/>
          <a:ln/>
        </p:spPr>
        <p:txBody>
          <a:bodyPr wrap="none" lIns="0" tIns="0" rIns="0" bIns="0" rtlCol="0" anchor="t"/>
          <a:lstStyle/>
          <a:p>
            <a:pPr algn="l" indent="0" marL="0">
              <a:lnSpc>
                <a:spcPct val="108000"/>
              </a:lnSpc>
              <a:buNone/>
            </a:pPr>
            <a:r>
              <a:rPr lang="en-US" sz="1950" dirty="0">
                <a:solidFill>
                  <a:srgbClr val="1F2937"/>
                </a:solidFill>
                <a:latin typeface="Fira Sans" pitchFamily="34" charset="0"/>
                <a:ea typeface="Fira Sans" pitchFamily="34" charset="-122"/>
                <a:cs typeface="Fira Sans" pitchFamily="34" charset="-120"/>
              </a:rPr>
              <a:t>Waiting</a:t>
            </a:r>
            <a:endParaRPr lang="en-US" sz="1950" dirty="0"/>
          </a:p>
        </p:txBody>
      </p:sp>
      <p:pic>
        <p:nvPicPr>
          <p:cNvPr id="14" name="Image 4" descr="preencoded.png">    </p:cNvPr>
          <p:cNvPicPr>
            <a:picLocks noChangeAspect="1"/>
          </p:cNvPicPr>
          <p:nvPr/>
        </p:nvPicPr>
        <p:blipFill>
          <a:blip r:embed="rId5"/>
          <a:stretch>
            <a:fillRect/>
          </a:stretch>
        </p:blipFill>
        <p:spPr>
          <a:xfrm>
            <a:off x="9707617" y="3348434"/>
            <a:ext cx="539736" cy="539750"/>
          </a:xfrm>
          <a:prstGeom prst="rect">
            <a:avLst/>
          </a:prstGeom>
        </p:spPr>
      </p:pic>
      <p:sp>
        <p:nvSpPr>
          <p:cNvPr id="15" name="Text 8"/>
          <p:cNvSpPr/>
          <p:nvPr/>
        </p:nvSpPr>
        <p:spPr>
          <a:xfrm>
            <a:off x="9707617" y="4116784"/>
            <a:ext cx="2026889" cy="321866"/>
          </a:xfrm>
          <a:prstGeom prst="rect">
            <a:avLst/>
          </a:prstGeom>
          <a:noFill/>
          <a:ln/>
        </p:spPr>
        <p:txBody>
          <a:bodyPr wrap="none" lIns="0" tIns="0" rIns="0" bIns="0" rtlCol="0" anchor="t"/>
          <a:lstStyle/>
          <a:p>
            <a:pPr algn="l" indent="0" marL="0">
              <a:lnSpc>
                <a:spcPct val="108000"/>
              </a:lnSpc>
              <a:buNone/>
            </a:pPr>
            <a:r>
              <a:rPr lang="en-US" sz="1950" dirty="0">
                <a:solidFill>
                  <a:srgbClr val="1F2937"/>
                </a:solidFill>
                <a:latin typeface="Fira Sans" pitchFamily="34" charset="0"/>
                <a:ea typeface="Fira Sans" pitchFamily="34" charset="-122"/>
                <a:cs typeface="Fira Sans" pitchFamily="34" charset="-120"/>
              </a:rPr>
              <a:t>Terminated</a:t>
            </a:r>
            <a:endParaRPr lang="en-US" sz="1950" dirty="0"/>
          </a:p>
        </p:txBody>
      </p:sp>
      <p:sp>
        <p:nvSpPr>
          <p:cNvPr id="16" name="Text 9"/>
          <p:cNvSpPr/>
          <p:nvPr/>
        </p:nvSpPr>
        <p:spPr>
          <a:xfrm>
            <a:off x="457189" y="5627588"/>
            <a:ext cx="3555911" cy="515541"/>
          </a:xfrm>
          <a:prstGeom prst="rect">
            <a:avLst/>
          </a:prstGeom>
          <a:noFill/>
          <a:ln/>
        </p:spPr>
        <p:txBody>
          <a:bodyPr wrap="square" lIns="0" tIns="0" rIns="0" bIns="0" rtlCol="0" anchor="t">
            <a:normAutofit/>
          </a:bodyPr>
          <a:lstStyle/>
          <a:p>
            <a:pPr algn="l" indent="0" marL="0">
              <a:lnSpc>
                <a:spcPct val="117000"/>
              </a:lnSpc>
              <a:buNone/>
            </a:pPr>
            <a:r>
              <a:rPr lang="en-US" sz="1450" b="1" dirty="0">
                <a:solidFill>
                  <a:srgbClr val="1F2937"/>
                </a:solidFill>
                <a:latin typeface="Fira Sans Bold" pitchFamily="34" charset="0"/>
                <a:ea typeface="Fira Sans Bold" pitchFamily="34" charset="-122"/>
                <a:cs typeface="Fira Sans Bold" pitchFamily="34" charset="-120"/>
              </a:rPr>
              <a:t>Process</a:t>
            </a:r>
            <a:pPr algn="l" indent="0" marL="0">
              <a:lnSpc>
                <a:spcPct val="117000"/>
              </a:lnSpc>
              <a:buNone/>
            </a:pPr>
            <a:r>
              <a:rPr lang="en-US" sz="1450" dirty="0">
                <a:solidFill>
                  <a:srgbClr val="1F2937"/>
                </a:solidFill>
                <a:latin typeface="Fira Sans" pitchFamily="34" charset="0"/>
                <a:ea typeface="Fira Sans" pitchFamily="34" charset="-122"/>
                <a:cs typeface="Fira Sans" pitchFamily="34" charset="-120"/>
              </a:rPr>
              <a:t> — a program in execution, managed by the operating system.</a:t>
            </a:r>
            <a:endParaRPr lang="en-US" sz="1450" dirty="0"/>
          </a:p>
        </p:txBody>
      </p:sp>
      <p:sp>
        <p:nvSpPr>
          <p:cNvPr id="17" name="Text 10"/>
          <p:cNvSpPr/>
          <p:nvPr/>
        </p:nvSpPr>
        <p:spPr>
          <a:xfrm>
            <a:off x="4317892" y="5627588"/>
            <a:ext cx="3555911" cy="515541"/>
          </a:xfrm>
          <a:prstGeom prst="rect">
            <a:avLst/>
          </a:prstGeom>
          <a:noFill/>
          <a:ln/>
        </p:spPr>
        <p:txBody>
          <a:bodyPr wrap="square" lIns="0" tIns="0" rIns="0" bIns="0" rtlCol="0" anchor="t">
            <a:normAutofit/>
          </a:bodyPr>
          <a:lstStyle/>
          <a:p>
            <a:pPr algn="l" indent="0" marL="0">
              <a:lnSpc>
                <a:spcPct val="117000"/>
              </a:lnSpc>
              <a:buNone/>
            </a:pPr>
            <a:r>
              <a:rPr lang="en-US" sz="1450" b="1" dirty="0">
                <a:solidFill>
                  <a:srgbClr val="1F2937"/>
                </a:solidFill>
                <a:latin typeface="Fira Sans Bold" pitchFamily="34" charset="0"/>
                <a:ea typeface="Fira Sans Bold" pitchFamily="34" charset="-122"/>
                <a:cs typeface="Fira Sans Bold" pitchFamily="34" charset="-120"/>
              </a:rPr>
              <a:t>Process termination</a:t>
            </a:r>
            <a:pPr algn="l" indent="0" marL="0">
              <a:lnSpc>
                <a:spcPct val="117000"/>
              </a:lnSpc>
              <a:buNone/>
            </a:pPr>
            <a:r>
              <a:rPr lang="en-US" sz="1450" dirty="0">
                <a:solidFill>
                  <a:srgbClr val="1F2937"/>
                </a:solidFill>
                <a:latin typeface="Fira Sans" pitchFamily="34" charset="0"/>
                <a:ea typeface="Fira Sans" pitchFamily="34" charset="-122"/>
                <a:cs typeface="Fira Sans" pitchFamily="34" charset="-120"/>
              </a:rPr>
              <a:t> — execution stops normally, abnormally, or by request.</a:t>
            </a:r>
            <a:endParaRPr lang="en-US" sz="1450" dirty="0"/>
          </a:p>
        </p:txBody>
      </p:sp>
      <p:sp>
        <p:nvSpPr>
          <p:cNvPr id="18" name="Text 11"/>
          <p:cNvSpPr/>
          <p:nvPr/>
        </p:nvSpPr>
        <p:spPr>
          <a:xfrm>
            <a:off x="8178595" y="5627588"/>
            <a:ext cx="3555911" cy="773311"/>
          </a:xfrm>
          <a:prstGeom prst="rect">
            <a:avLst/>
          </a:prstGeom>
          <a:noFill/>
          <a:ln/>
        </p:spPr>
        <p:txBody>
          <a:bodyPr wrap="square" lIns="0" tIns="0" rIns="0" bIns="0" rtlCol="0" anchor="t">
            <a:normAutofit/>
          </a:bodyPr>
          <a:lstStyle/>
          <a:p>
            <a:pPr algn="l" indent="0" marL="0">
              <a:lnSpc>
                <a:spcPct val="117000"/>
              </a:lnSpc>
              <a:buNone/>
            </a:pPr>
            <a:r>
              <a:rPr lang="en-US" sz="1450" b="1" dirty="0">
                <a:solidFill>
                  <a:srgbClr val="1F2937"/>
                </a:solidFill>
                <a:latin typeface="Fira Sans Bold" pitchFamily="34" charset="0"/>
                <a:ea typeface="Fira Sans Bold" pitchFamily="34" charset="-122"/>
                <a:cs typeface="Fira Sans Bold" pitchFamily="34" charset="-120"/>
              </a:rPr>
              <a:t>OS role</a:t>
            </a:r>
            <a:pPr algn="l" indent="0" marL="0">
              <a:lnSpc>
                <a:spcPct val="117000"/>
              </a:lnSpc>
              <a:buNone/>
            </a:pPr>
            <a:r>
              <a:rPr lang="en-US" sz="1450" dirty="0">
                <a:solidFill>
                  <a:srgbClr val="1F2937"/>
                </a:solidFill>
                <a:latin typeface="Fira Sans" pitchFamily="34" charset="0"/>
                <a:ea typeface="Fira Sans" pitchFamily="34" charset="-122"/>
                <a:cs typeface="Fira Sans" pitchFamily="34" charset="-120"/>
              </a:rPr>
              <a:t> — track state, assign resources, record status, notify the parent, and reclaim memory and handles.</a:t>
            </a:r>
            <a:endParaRPr lang="en-US" sz="1450" dirty="0"/>
          </a:p>
        </p:txBody>
      </p:sp>
      <p:sp>
        <p:nvSpPr>
          <p:cNvPr id="19" name="Shape 12"/>
          <p:cNvSpPr/>
          <p:nvPr/>
        </p:nvSpPr>
        <p:spPr>
          <a:xfrm>
            <a:off x="2706223" y="3119834"/>
            <a:ext cx="12700" cy="1547416"/>
          </a:xfrm>
          <a:prstGeom prst="rect">
            <a:avLst/>
          </a:prstGeom>
          <a:solidFill>
            <a:srgbClr val="CBD3DE"/>
          </a:solidFill>
          <a:ln/>
        </p:spPr>
      </p:sp>
      <p:sp>
        <p:nvSpPr>
          <p:cNvPr id="20" name="Shape 13"/>
          <p:cNvSpPr/>
          <p:nvPr/>
        </p:nvSpPr>
        <p:spPr>
          <a:xfrm>
            <a:off x="4961706" y="3119834"/>
            <a:ext cx="12700" cy="1547416"/>
          </a:xfrm>
          <a:prstGeom prst="rect">
            <a:avLst/>
          </a:prstGeom>
          <a:solidFill>
            <a:srgbClr val="CBD3DE"/>
          </a:solidFill>
          <a:ln/>
        </p:spPr>
      </p:sp>
      <p:sp>
        <p:nvSpPr>
          <p:cNvPr id="21" name="Shape 14"/>
          <p:cNvSpPr/>
          <p:nvPr/>
        </p:nvSpPr>
        <p:spPr>
          <a:xfrm>
            <a:off x="7217190" y="3119834"/>
            <a:ext cx="12700" cy="1547416"/>
          </a:xfrm>
          <a:prstGeom prst="rect">
            <a:avLst/>
          </a:prstGeom>
          <a:solidFill>
            <a:srgbClr val="CBD3DE"/>
          </a:solidFill>
          <a:ln/>
        </p:spPr>
      </p:sp>
      <p:sp>
        <p:nvSpPr>
          <p:cNvPr id="22" name="Shape 15"/>
          <p:cNvSpPr/>
          <p:nvPr/>
        </p:nvSpPr>
        <p:spPr>
          <a:xfrm>
            <a:off x="9472673" y="3119834"/>
            <a:ext cx="12700" cy="1547416"/>
          </a:xfrm>
          <a:prstGeom prst="rect">
            <a:avLst/>
          </a:prstGeom>
          <a:solidFill>
            <a:srgbClr val="CBD3DE"/>
          </a:solidFill>
          <a:ln/>
        </p:spPr>
      </p:sp>
      <p:sp>
        <p:nvSpPr>
          <p:cNvPr id="23" name="Text 16"/>
          <p:cNvSpPr/>
          <p:nvPr/>
        </p:nvSpPr>
        <p:spPr>
          <a:xfrm>
            <a:off x="11656225" y="6531570"/>
            <a:ext cx="535470" cy="195560"/>
          </a:xfrm>
          <a:prstGeom prst="rect">
            <a:avLst/>
          </a:prstGeom>
          <a:noFill/>
          <a:ln/>
        </p:spPr>
        <p:txBody>
          <a:bodyPr wrap="none" lIns="0" tIns="0" rIns="0" bIns="0" rtlCol="0" anchor="ctr"/>
          <a:lstStyle/>
          <a:p>
            <a:pPr algn="l" indent="0" marL="0">
              <a:lnSpc>
                <a:spcPct val="117000"/>
              </a:lnSpc>
              <a:buNone/>
            </a:pPr>
            <a:r>
              <a:rPr lang="en-US" sz="1100" dirty="0">
                <a:solidFill>
                  <a:srgbClr val="1F2937"/>
                </a:solidFill>
                <a:latin typeface="Fira Sans" pitchFamily="34" charset="0"/>
                <a:ea typeface="Fira Sans" pitchFamily="34" charset="-122"/>
                <a:cs typeface="Fira Sans"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189" y="457200"/>
            <a:ext cx="11734506" cy="302220"/>
          </a:xfrm>
          <a:prstGeom prst="rect">
            <a:avLst/>
          </a:prstGeom>
          <a:noFill/>
          <a:ln/>
        </p:spPr>
        <p:txBody>
          <a:bodyPr wrap="none" lIns="0" tIns="0" rIns="0" bIns="0" rtlCol="0" anchor="t"/>
          <a:lstStyle/>
          <a:p>
            <a:pPr algn="l" indent="0" marL="0">
              <a:lnSpc>
                <a:spcPct val="117000"/>
              </a:lnSpc>
              <a:buNone/>
            </a:pPr>
            <a:r>
              <a:rPr lang="en-US" sz="1700" spc="34" kern="0" dirty="0">
                <a:solidFill>
                  <a:srgbClr val="1F2937"/>
                </a:solidFill>
                <a:latin typeface="Fira Mono" pitchFamily="34" charset="0"/>
                <a:ea typeface="Fira Mono" pitchFamily="34" charset="-122"/>
                <a:cs typeface="Fira Mono" pitchFamily="34" charset="-120"/>
              </a:rPr>
              <a:t>WHY THE HANDOFF MATTERS</a:t>
            </a:r>
            <a:endParaRPr lang="en-US" sz="1700" dirty="0"/>
          </a:p>
        </p:txBody>
      </p:sp>
      <p:sp>
        <p:nvSpPr>
          <p:cNvPr id="3" name="Text 1"/>
          <p:cNvSpPr/>
          <p:nvPr/>
        </p:nvSpPr>
        <p:spPr>
          <a:xfrm>
            <a:off x="457189" y="1194395"/>
            <a:ext cx="11277318" cy="408880"/>
          </a:xfrm>
          <a:prstGeom prst="rect">
            <a:avLst/>
          </a:prstGeom>
          <a:noFill/>
          <a:ln/>
        </p:spPr>
        <p:txBody>
          <a:bodyPr wrap="none" lIns="0" tIns="0" rIns="0" bIns="0" rtlCol="0" anchor="t"/>
          <a:lstStyle/>
          <a:p>
            <a:pPr algn="l" indent="0" marL="0">
              <a:lnSpc>
                <a:spcPct val="96000"/>
              </a:lnSpc>
              <a:buNone/>
            </a:pPr>
            <a:r>
              <a:rPr lang="en-US" sz="2800" spc="-28" kern="0" dirty="0">
                <a:solidFill>
                  <a:srgbClr val="1F2937"/>
                </a:solidFill>
                <a:latin typeface="Fira Sans SemiBold" pitchFamily="34" charset="0"/>
                <a:ea typeface="Fira Sans SemiBold" pitchFamily="34" charset="-122"/>
                <a:cs typeface="Fira Sans SemiBold" pitchFamily="34" charset="-120"/>
              </a:rPr>
              <a:t>Termination must close the loop</a:t>
            </a:r>
            <a:endParaRPr lang="en-US" sz="2800" dirty="0"/>
          </a:p>
        </p:txBody>
      </p:sp>
      <p:sp>
        <p:nvSpPr>
          <p:cNvPr id="4" name="Text 2"/>
          <p:cNvSpPr/>
          <p:nvPr/>
        </p:nvSpPr>
        <p:spPr>
          <a:xfrm>
            <a:off x="457189" y="1857276"/>
            <a:ext cx="11734506" cy="302220"/>
          </a:xfrm>
          <a:prstGeom prst="rect">
            <a:avLst/>
          </a:prstGeom>
          <a:noFill/>
          <a:ln/>
        </p:spPr>
        <p:txBody>
          <a:bodyPr wrap="none" lIns="0" tIns="0" rIns="0" bIns="0" rtlCol="0" anchor="t"/>
          <a:lstStyle/>
          <a:p>
            <a:pPr algn="l" indent="0" marL="0">
              <a:lnSpc>
                <a:spcPct val="117000"/>
              </a:lnSpc>
              <a:buNone/>
            </a:pPr>
            <a:r>
              <a:rPr lang="en-US" sz="1700" dirty="0">
                <a:solidFill>
                  <a:srgbClr val="1F2937"/>
                </a:solidFill>
                <a:latin typeface="Fira Sans" pitchFamily="34" charset="0"/>
                <a:ea typeface="Fira Sans" pitchFamily="34" charset="-122"/>
                <a:cs typeface="Fira Sans" pitchFamily="34" charset="-120"/>
              </a:rPr>
              <a:t>A process that ends without a usable status leaves work unfinished.</a:t>
            </a:r>
            <a:endParaRPr lang="en-US" sz="1700" dirty="0"/>
          </a:p>
        </p:txBody>
      </p:sp>
      <p:sp>
        <p:nvSpPr>
          <p:cNvPr id="5" name="Text 3"/>
          <p:cNvSpPr/>
          <p:nvPr/>
        </p:nvSpPr>
        <p:spPr>
          <a:xfrm>
            <a:off x="457189" y="2337296"/>
            <a:ext cx="851474" cy="215900"/>
          </a:xfrm>
          <a:prstGeom prst="rect">
            <a:avLst/>
          </a:prstGeom>
          <a:noFill/>
          <a:ln/>
        </p:spPr>
        <p:txBody>
          <a:bodyPr wrap="none" lIns="0" tIns="0" rIns="0" bIns="0" rtlCol="0" anchor="t"/>
          <a:lstStyle/>
          <a:p>
            <a:pPr algn="l" indent="0" marL="0">
              <a:lnSpc>
                <a:spcPct val="83000"/>
              </a:lnSpc>
              <a:buNone/>
            </a:pPr>
            <a:r>
              <a:rPr lang="en-US" sz="1700" dirty="0">
                <a:solidFill>
                  <a:srgbClr val="F26B1D"/>
                </a:solidFill>
                <a:latin typeface="Fira Sans SemiBold" pitchFamily="34" charset="0"/>
                <a:ea typeface="Fira Sans SemiBold" pitchFamily="34" charset="-122"/>
                <a:cs typeface="Fira Sans SemiBold" pitchFamily="34" charset="-120"/>
              </a:rPr>
              <a:t>01</a:t>
            </a:r>
            <a:endParaRPr lang="en-US" sz="1700" dirty="0"/>
          </a:p>
        </p:txBody>
      </p:sp>
      <p:sp>
        <p:nvSpPr>
          <p:cNvPr id="6" name="Shape 4"/>
          <p:cNvSpPr/>
          <p:nvPr/>
        </p:nvSpPr>
        <p:spPr>
          <a:xfrm>
            <a:off x="457189" y="2639516"/>
            <a:ext cx="2011610" cy="19050"/>
          </a:xfrm>
          <a:prstGeom prst="rect">
            <a:avLst/>
          </a:prstGeom>
          <a:solidFill>
            <a:srgbClr val="F26B1D"/>
          </a:solidFill>
          <a:ln/>
        </p:spPr>
      </p:sp>
      <p:sp>
        <p:nvSpPr>
          <p:cNvPr id="7" name="Text 5"/>
          <p:cNvSpPr/>
          <p:nvPr/>
        </p:nvSpPr>
        <p:spPr>
          <a:xfrm>
            <a:off x="457189" y="2788047"/>
            <a:ext cx="2011610" cy="321866"/>
          </a:xfrm>
          <a:prstGeom prst="rect">
            <a:avLst/>
          </a:prstGeom>
          <a:noFill/>
          <a:ln/>
        </p:spPr>
        <p:txBody>
          <a:bodyPr wrap="none" lIns="0" tIns="0" rIns="0" bIns="0" rtlCol="0" anchor="t"/>
          <a:lstStyle/>
          <a:p>
            <a:pPr algn="l" indent="0" marL="0">
              <a:lnSpc>
                <a:spcPct val="108000"/>
              </a:lnSpc>
              <a:buNone/>
            </a:pPr>
            <a:r>
              <a:rPr lang="en-US" sz="1950" dirty="0">
                <a:solidFill>
                  <a:srgbClr val="1F2937"/>
                </a:solidFill>
                <a:latin typeface="Fira Sans" pitchFamily="34" charset="0"/>
                <a:ea typeface="Fira Sans" pitchFamily="34" charset="-122"/>
                <a:cs typeface="Fira Sans" pitchFamily="34" charset="-120"/>
              </a:rPr>
              <a:t>Release</a:t>
            </a:r>
            <a:endParaRPr lang="en-US" sz="1950" dirty="0"/>
          </a:p>
        </p:txBody>
      </p:sp>
      <p:sp>
        <p:nvSpPr>
          <p:cNvPr id="8" name="Text 6"/>
          <p:cNvSpPr/>
          <p:nvPr/>
        </p:nvSpPr>
        <p:spPr>
          <a:xfrm>
            <a:off x="457189" y="3294063"/>
            <a:ext cx="2011610" cy="1511102"/>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F2937"/>
                </a:solidFill>
                <a:latin typeface="Fira Sans" pitchFamily="34" charset="0"/>
                <a:ea typeface="Fira Sans" pitchFamily="34" charset="-122"/>
                <a:cs typeface="Fira Sans" pitchFamily="34" charset="-120"/>
              </a:rPr>
              <a:t>Memory, files, locks, and other operating-system resources must be released.</a:t>
            </a:r>
            <a:endParaRPr lang="en-US" sz="1700" dirty="0"/>
          </a:p>
        </p:txBody>
      </p:sp>
      <p:sp>
        <p:nvSpPr>
          <p:cNvPr id="9" name="Text 7"/>
          <p:cNvSpPr/>
          <p:nvPr/>
        </p:nvSpPr>
        <p:spPr>
          <a:xfrm>
            <a:off x="2773492" y="2337296"/>
            <a:ext cx="851474" cy="215900"/>
          </a:xfrm>
          <a:prstGeom prst="rect">
            <a:avLst/>
          </a:prstGeom>
          <a:noFill/>
          <a:ln/>
        </p:spPr>
        <p:txBody>
          <a:bodyPr wrap="none" lIns="0" tIns="0" rIns="0" bIns="0" rtlCol="0" anchor="t"/>
          <a:lstStyle/>
          <a:p>
            <a:pPr algn="l" indent="0" marL="0">
              <a:lnSpc>
                <a:spcPct val="83000"/>
              </a:lnSpc>
              <a:buNone/>
            </a:pPr>
            <a:r>
              <a:rPr lang="en-US" sz="1700" dirty="0">
                <a:solidFill>
                  <a:srgbClr val="F26B1D"/>
                </a:solidFill>
                <a:latin typeface="Fira Sans SemiBold" pitchFamily="34" charset="0"/>
                <a:ea typeface="Fira Sans SemiBold" pitchFamily="34" charset="-122"/>
                <a:cs typeface="Fira Sans SemiBold" pitchFamily="34" charset="-120"/>
              </a:rPr>
              <a:t>02</a:t>
            </a:r>
            <a:endParaRPr lang="en-US" sz="1700" dirty="0"/>
          </a:p>
        </p:txBody>
      </p:sp>
      <p:sp>
        <p:nvSpPr>
          <p:cNvPr id="10" name="Shape 8"/>
          <p:cNvSpPr/>
          <p:nvPr/>
        </p:nvSpPr>
        <p:spPr>
          <a:xfrm>
            <a:off x="2773492" y="2639516"/>
            <a:ext cx="2011610" cy="19050"/>
          </a:xfrm>
          <a:prstGeom prst="rect">
            <a:avLst/>
          </a:prstGeom>
          <a:solidFill>
            <a:srgbClr val="F26B1D"/>
          </a:solidFill>
          <a:ln/>
        </p:spPr>
      </p:sp>
      <p:sp>
        <p:nvSpPr>
          <p:cNvPr id="11" name="Text 9"/>
          <p:cNvSpPr/>
          <p:nvPr/>
        </p:nvSpPr>
        <p:spPr>
          <a:xfrm>
            <a:off x="2773492" y="2788047"/>
            <a:ext cx="2011709" cy="321866"/>
          </a:xfrm>
          <a:prstGeom prst="rect">
            <a:avLst/>
          </a:prstGeom>
          <a:noFill/>
          <a:ln/>
        </p:spPr>
        <p:txBody>
          <a:bodyPr wrap="none" lIns="0" tIns="0" rIns="0" bIns="0" rtlCol="0" anchor="t"/>
          <a:lstStyle/>
          <a:p>
            <a:pPr algn="l" indent="0" marL="0">
              <a:lnSpc>
                <a:spcPct val="108000"/>
              </a:lnSpc>
              <a:buNone/>
            </a:pPr>
            <a:r>
              <a:rPr lang="en-US" sz="1950" dirty="0">
                <a:solidFill>
                  <a:srgbClr val="1F2937"/>
                </a:solidFill>
                <a:latin typeface="Fira Sans" pitchFamily="34" charset="0"/>
                <a:ea typeface="Fira Sans" pitchFamily="34" charset="-122"/>
                <a:cs typeface="Fira Sans" pitchFamily="34" charset="-120"/>
              </a:rPr>
              <a:t>Leak</a:t>
            </a:r>
            <a:endParaRPr lang="en-US" sz="1950" dirty="0"/>
          </a:p>
        </p:txBody>
      </p:sp>
      <p:sp>
        <p:nvSpPr>
          <p:cNvPr id="12" name="Text 10"/>
          <p:cNvSpPr/>
          <p:nvPr/>
        </p:nvSpPr>
        <p:spPr>
          <a:xfrm>
            <a:off x="2773492" y="3294063"/>
            <a:ext cx="2011709" cy="1813322"/>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F2937"/>
                </a:solidFill>
                <a:latin typeface="Fira Sans" pitchFamily="34" charset="0"/>
                <a:ea typeface="Fira Sans" pitchFamily="34" charset="-122"/>
                <a:cs typeface="Fira Sans" pitchFamily="34" charset="-120"/>
              </a:rPr>
              <a:t>Improper termination can leave resource leakage or inconsistent shared state.</a:t>
            </a:r>
            <a:endParaRPr lang="en-US" sz="1700" dirty="0"/>
          </a:p>
        </p:txBody>
      </p:sp>
      <p:sp>
        <p:nvSpPr>
          <p:cNvPr id="13" name="Text 11"/>
          <p:cNvSpPr/>
          <p:nvPr/>
        </p:nvSpPr>
        <p:spPr>
          <a:xfrm>
            <a:off x="5089894" y="2337296"/>
            <a:ext cx="851474" cy="215900"/>
          </a:xfrm>
          <a:prstGeom prst="rect">
            <a:avLst/>
          </a:prstGeom>
          <a:noFill/>
          <a:ln/>
        </p:spPr>
        <p:txBody>
          <a:bodyPr wrap="none" lIns="0" tIns="0" rIns="0" bIns="0" rtlCol="0" anchor="t"/>
          <a:lstStyle/>
          <a:p>
            <a:pPr algn="l" indent="0" marL="0">
              <a:lnSpc>
                <a:spcPct val="83000"/>
              </a:lnSpc>
              <a:buNone/>
            </a:pPr>
            <a:r>
              <a:rPr lang="en-US" sz="1700" dirty="0">
                <a:solidFill>
                  <a:srgbClr val="F26B1D"/>
                </a:solidFill>
                <a:latin typeface="Fira Sans SemiBold" pitchFamily="34" charset="0"/>
                <a:ea typeface="Fira Sans SemiBold" pitchFamily="34" charset="-122"/>
                <a:cs typeface="Fira Sans SemiBold" pitchFamily="34" charset="-120"/>
              </a:rPr>
              <a:t>03</a:t>
            </a:r>
            <a:endParaRPr lang="en-US" sz="1700" dirty="0"/>
          </a:p>
        </p:txBody>
      </p:sp>
      <p:sp>
        <p:nvSpPr>
          <p:cNvPr id="14" name="Shape 12"/>
          <p:cNvSpPr/>
          <p:nvPr/>
        </p:nvSpPr>
        <p:spPr>
          <a:xfrm>
            <a:off x="5089894" y="2639516"/>
            <a:ext cx="2011808" cy="19050"/>
          </a:xfrm>
          <a:prstGeom prst="rect">
            <a:avLst/>
          </a:prstGeom>
          <a:solidFill>
            <a:srgbClr val="F26B1D"/>
          </a:solidFill>
          <a:ln/>
        </p:spPr>
      </p:sp>
      <p:sp>
        <p:nvSpPr>
          <p:cNvPr id="15" name="Text 13"/>
          <p:cNvSpPr/>
          <p:nvPr/>
        </p:nvSpPr>
        <p:spPr>
          <a:xfrm>
            <a:off x="5089894" y="2788047"/>
            <a:ext cx="2011808" cy="321866"/>
          </a:xfrm>
          <a:prstGeom prst="rect">
            <a:avLst/>
          </a:prstGeom>
          <a:noFill/>
          <a:ln/>
        </p:spPr>
        <p:txBody>
          <a:bodyPr wrap="none" lIns="0" tIns="0" rIns="0" bIns="0" rtlCol="0" anchor="t"/>
          <a:lstStyle/>
          <a:p>
            <a:pPr algn="l" indent="0" marL="0">
              <a:lnSpc>
                <a:spcPct val="108000"/>
              </a:lnSpc>
              <a:buNone/>
            </a:pPr>
            <a:r>
              <a:rPr lang="en-US" sz="1950" dirty="0">
                <a:solidFill>
                  <a:srgbClr val="1F2937"/>
                </a:solidFill>
                <a:latin typeface="Fira Sans" pitchFamily="34" charset="0"/>
                <a:ea typeface="Fira Sans" pitchFamily="34" charset="-122"/>
                <a:cs typeface="Fira Sans" pitchFamily="34" charset="-120"/>
              </a:rPr>
              <a:t>Zombie</a:t>
            </a:r>
            <a:endParaRPr lang="en-US" sz="1950" dirty="0"/>
          </a:p>
        </p:txBody>
      </p:sp>
      <p:sp>
        <p:nvSpPr>
          <p:cNvPr id="16" name="Text 14"/>
          <p:cNvSpPr/>
          <p:nvPr/>
        </p:nvSpPr>
        <p:spPr>
          <a:xfrm>
            <a:off x="5089894" y="3294063"/>
            <a:ext cx="2011808" cy="1511102"/>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F2937"/>
                </a:solidFill>
                <a:latin typeface="Fira Sans" pitchFamily="34" charset="0"/>
                <a:ea typeface="Fira Sans" pitchFamily="34" charset="-122"/>
                <a:cs typeface="Fira Sans" pitchFamily="34" charset="-120"/>
              </a:rPr>
              <a:t>A completed entry remains until the parent collects termination information.</a:t>
            </a:r>
            <a:endParaRPr lang="en-US" sz="1700" dirty="0"/>
          </a:p>
        </p:txBody>
      </p:sp>
      <p:sp>
        <p:nvSpPr>
          <p:cNvPr id="17" name="Text 15"/>
          <p:cNvSpPr/>
          <p:nvPr/>
        </p:nvSpPr>
        <p:spPr>
          <a:xfrm>
            <a:off x="7406395" y="2337296"/>
            <a:ext cx="851474" cy="215900"/>
          </a:xfrm>
          <a:prstGeom prst="rect">
            <a:avLst/>
          </a:prstGeom>
          <a:noFill/>
          <a:ln/>
        </p:spPr>
        <p:txBody>
          <a:bodyPr wrap="none" lIns="0" tIns="0" rIns="0" bIns="0" rtlCol="0" anchor="t"/>
          <a:lstStyle/>
          <a:p>
            <a:pPr algn="l" indent="0" marL="0">
              <a:lnSpc>
                <a:spcPct val="83000"/>
              </a:lnSpc>
              <a:buNone/>
            </a:pPr>
            <a:r>
              <a:rPr lang="en-US" sz="1700" dirty="0">
                <a:solidFill>
                  <a:srgbClr val="F26B1D"/>
                </a:solidFill>
                <a:latin typeface="Fira Sans SemiBold" pitchFamily="34" charset="0"/>
                <a:ea typeface="Fira Sans SemiBold" pitchFamily="34" charset="-122"/>
                <a:cs typeface="Fira Sans SemiBold" pitchFamily="34" charset="-120"/>
              </a:rPr>
              <a:t>04</a:t>
            </a:r>
            <a:endParaRPr lang="en-US" sz="1700" dirty="0"/>
          </a:p>
        </p:txBody>
      </p:sp>
      <p:sp>
        <p:nvSpPr>
          <p:cNvPr id="18" name="Shape 16"/>
          <p:cNvSpPr/>
          <p:nvPr/>
        </p:nvSpPr>
        <p:spPr>
          <a:xfrm>
            <a:off x="7406395" y="2639516"/>
            <a:ext cx="2011610" cy="19050"/>
          </a:xfrm>
          <a:prstGeom prst="rect">
            <a:avLst/>
          </a:prstGeom>
          <a:solidFill>
            <a:srgbClr val="F26B1D"/>
          </a:solidFill>
          <a:ln/>
        </p:spPr>
      </p:sp>
      <p:sp>
        <p:nvSpPr>
          <p:cNvPr id="19" name="Text 17"/>
          <p:cNvSpPr/>
          <p:nvPr/>
        </p:nvSpPr>
        <p:spPr>
          <a:xfrm>
            <a:off x="7406395" y="2788047"/>
            <a:ext cx="2011709" cy="321866"/>
          </a:xfrm>
          <a:prstGeom prst="rect">
            <a:avLst/>
          </a:prstGeom>
          <a:noFill/>
          <a:ln/>
        </p:spPr>
        <p:txBody>
          <a:bodyPr wrap="none" lIns="0" tIns="0" rIns="0" bIns="0" rtlCol="0" anchor="t"/>
          <a:lstStyle/>
          <a:p>
            <a:pPr algn="l" indent="0" marL="0">
              <a:lnSpc>
                <a:spcPct val="108000"/>
              </a:lnSpc>
              <a:buNone/>
            </a:pPr>
            <a:r>
              <a:rPr lang="en-US" sz="1950" dirty="0">
                <a:solidFill>
                  <a:srgbClr val="1F2937"/>
                </a:solidFill>
                <a:latin typeface="Fira Sans" pitchFamily="34" charset="0"/>
                <a:ea typeface="Fira Sans" pitchFamily="34" charset="-122"/>
                <a:cs typeface="Fira Sans" pitchFamily="34" charset="-120"/>
              </a:rPr>
              <a:t>Monitor</a:t>
            </a:r>
            <a:endParaRPr lang="en-US" sz="1950" dirty="0"/>
          </a:p>
        </p:txBody>
      </p:sp>
      <p:sp>
        <p:nvSpPr>
          <p:cNvPr id="20" name="Text 18"/>
          <p:cNvSpPr/>
          <p:nvPr/>
        </p:nvSpPr>
        <p:spPr>
          <a:xfrm>
            <a:off x="7406395" y="3294063"/>
            <a:ext cx="2011709" cy="120888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F2937"/>
                </a:solidFill>
                <a:latin typeface="Fira Sans" pitchFamily="34" charset="0"/>
                <a:ea typeface="Fira Sans" pitchFamily="34" charset="-122"/>
                <a:cs typeface="Fira Sans" pitchFamily="34" charset="-120"/>
              </a:rPr>
              <a:t>Without status, monitoring and follow-up decisions become unreliable.</a:t>
            </a:r>
            <a:endParaRPr lang="en-US" sz="1700" dirty="0"/>
          </a:p>
        </p:txBody>
      </p:sp>
      <p:sp>
        <p:nvSpPr>
          <p:cNvPr id="21" name="Text 19"/>
          <p:cNvSpPr/>
          <p:nvPr/>
        </p:nvSpPr>
        <p:spPr>
          <a:xfrm>
            <a:off x="9722797" y="2337296"/>
            <a:ext cx="851474" cy="215900"/>
          </a:xfrm>
          <a:prstGeom prst="rect">
            <a:avLst/>
          </a:prstGeom>
          <a:noFill/>
          <a:ln/>
        </p:spPr>
        <p:txBody>
          <a:bodyPr wrap="none" lIns="0" tIns="0" rIns="0" bIns="0" rtlCol="0" anchor="t"/>
          <a:lstStyle/>
          <a:p>
            <a:pPr algn="l" indent="0" marL="0">
              <a:lnSpc>
                <a:spcPct val="83000"/>
              </a:lnSpc>
              <a:buNone/>
            </a:pPr>
            <a:r>
              <a:rPr lang="en-US" sz="1700" dirty="0">
                <a:solidFill>
                  <a:srgbClr val="F26B1D"/>
                </a:solidFill>
                <a:latin typeface="Fira Sans SemiBold" pitchFamily="34" charset="0"/>
                <a:ea typeface="Fira Sans SemiBold" pitchFamily="34" charset="-122"/>
                <a:cs typeface="Fira Sans SemiBold" pitchFamily="34" charset="-120"/>
              </a:rPr>
              <a:t>05</a:t>
            </a:r>
            <a:endParaRPr lang="en-US" sz="1700" dirty="0"/>
          </a:p>
        </p:txBody>
      </p:sp>
      <p:sp>
        <p:nvSpPr>
          <p:cNvPr id="22" name="Shape 20"/>
          <p:cNvSpPr/>
          <p:nvPr/>
        </p:nvSpPr>
        <p:spPr>
          <a:xfrm>
            <a:off x="9722797" y="2639516"/>
            <a:ext cx="2011610" cy="19050"/>
          </a:xfrm>
          <a:prstGeom prst="rect">
            <a:avLst/>
          </a:prstGeom>
          <a:solidFill>
            <a:srgbClr val="F26B1D"/>
          </a:solidFill>
          <a:ln/>
        </p:spPr>
      </p:sp>
      <p:sp>
        <p:nvSpPr>
          <p:cNvPr id="23" name="Text 21"/>
          <p:cNvSpPr/>
          <p:nvPr/>
        </p:nvSpPr>
        <p:spPr>
          <a:xfrm>
            <a:off x="9722797" y="2788047"/>
            <a:ext cx="2011709" cy="321866"/>
          </a:xfrm>
          <a:prstGeom prst="rect">
            <a:avLst/>
          </a:prstGeom>
          <a:noFill/>
          <a:ln/>
        </p:spPr>
        <p:txBody>
          <a:bodyPr wrap="none" lIns="0" tIns="0" rIns="0" bIns="0" rtlCol="0" anchor="t"/>
          <a:lstStyle/>
          <a:p>
            <a:pPr algn="l" indent="0" marL="0">
              <a:lnSpc>
                <a:spcPct val="108000"/>
              </a:lnSpc>
              <a:buNone/>
            </a:pPr>
            <a:r>
              <a:rPr lang="en-US" sz="1950" dirty="0">
                <a:solidFill>
                  <a:srgbClr val="1F2937"/>
                </a:solidFill>
                <a:latin typeface="Fira Sans" pitchFamily="34" charset="0"/>
                <a:ea typeface="Fira Sans" pitchFamily="34" charset="-122"/>
                <a:cs typeface="Fira Sans" pitchFamily="34" charset="-120"/>
              </a:rPr>
              <a:t>Race</a:t>
            </a:r>
            <a:endParaRPr lang="en-US" sz="1950" dirty="0"/>
          </a:p>
        </p:txBody>
      </p:sp>
      <p:sp>
        <p:nvSpPr>
          <p:cNvPr id="24" name="Text 22"/>
          <p:cNvSpPr/>
          <p:nvPr/>
        </p:nvSpPr>
        <p:spPr>
          <a:xfrm>
            <a:off x="9722797" y="3294063"/>
            <a:ext cx="2011709" cy="1511102"/>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F2937"/>
                </a:solidFill>
                <a:latin typeface="Fira Sans" pitchFamily="34" charset="0"/>
                <a:ea typeface="Fira Sans" pitchFamily="34" charset="-122"/>
                <a:cs typeface="Fira Sans" pitchFamily="34" charset="-120"/>
              </a:rPr>
              <a:t>Weak synchronization can race child completion against parent cleanup.</a:t>
            </a:r>
            <a:endParaRPr lang="en-US" sz="1700" dirty="0"/>
          </a:p>
        </p:txBody>
      </p:sp>
      <p:sp>
        <p:nvSpPr>
          <p:cNvPr id="25" name="Shape 23"/>
          <p:cNvSpPr/>
          <p:nvPr/>
        </p:nvSpPr>
        <p:spPr>
          <a:xfrm>
            <a:off x="457189" y="5285184"/>
            <a:ext cx="11277318" cy="1144191"/>
          </a:xfrm>
          <a:prstGeom prst="roundRect">
            <a:avLst>
              <a:gd name="adj" fmla="val 999"/>
            </a:avLst>
          </a:prstGeom>
          <a:solidFill>
            <a:srgbClr val="FCF2B5"/>
          </a:solidFill>
          <a:ln/>
        </p:spPr>
      </p:sp>
      <p:sp>
        <p:nvSpPr>
          <p:cNvPr id="26" name="Text 24"/>
          <p:cNvSpPr/>
          <p:nvPr/>
        </p:nvSpPr>
        <p:spPr>
          <a:xfrm>
            <a:off x="673083" y="5555059"/>
            <a:ext cx="10845529" cy="604441"/>
          </a:xfrm>
          <a:prstGeom prst="rect">
            <a:avLst/>
          </a:prstGeom>
          <a:noFill/>
          <a:ln/>
        </p:spPr>
        <p:txBody>
          <a:bodyPr wrap="square" lIns="0" tIns="0" rIns="0" bIns="0" rtlCol="0" anchor="t">
            <a:normAutofit/>
          </a:bodyPr>
          <a:lstStyle/>
          <a:p>
            <a:pPr algn="l" indent="0" marL="0">
              <a:lnSpc>
                <a:spcPct val="117000"/>
              </a:lnSpc>
              <a:buNone/>
            </a:pPr>
            <a:r>
              <a:rPr lang="en-US" sz="1700" b="1" dirty="0">
                <a:solidFill>
                  <a:srgbClr val="000000"/>
                </a:solidFill>
                <a:latin typeface="Fira Sans Bold" pitchFamily="34" charset="0"/>
                <a:ea typeface="Fira Sans Bold" pitchFamily="34" charset="-122"/>
                <a:cs typeface="Fira Sans Bold" pitchFamily="34" charset="-120"/>
              </a:rPr>
              <a:t>Failure points are visible only when the loop is not closed.</a:t>
            </a:r>
            <a:pPr algn="l" indent="0" marL="0">
              <a:lnSpc>
                <a:spcPct val="117000"/>
              </a:lnSpc>
              <a:buNone/>
            </a:pPr>
            <a:r>
              <a:rPr lang="en-US" sz="1700" dirty="0">
                <a:solidFill>
                  <a:srgbClr val="000000"/>
                </a:solidFill>
                <a:latin typeface="Fira Sans" pitchFamily="34" charset="0"/>
                <a:ea typeface="Fira Sans" pitchFamily="34" charset="-122"/>
                <a:cs typeface="Fira Sans" pitchFamily="34" charset="-120"/>
              </a:rPr>
              <a:t> The message is what lets the parent decide what happens next.</a:t>
            </a:r>
            <a:endParaRPr lang="en-US" sz="1700" dirty="0"/>
          </a:p>
        </p:txBody>
      </p:sp>
      <p:sp>
        <p:nvSpPr>
          <p:cNvPr id="27" name="Text 25"/>
          <p:cNvSpPr/>
          <p:nvPr/>
        </p:nvSpPr>
        <p:spPr>
          <a:xfrm>
            <a:off x="11656225" y="6531570"/>
            <a:ext cx="535470" cy="195560"/>
          </a:xfrm>
          <a:prstGeom prst="rect">
            <a:avLst/>
          </a:prstGeom>
          <a:noFill/>
          <a:ln/>
        </p:spPr>
        <p:txBody>
          <a:bodyPr wrap="none" lIns="0" tIns="0" rIns="0" bIns="0" rtlCol="0" anchor="ctr"/>
          <a:lstStyle/>
          <a:p>
            <a:pPr algn="l" indent="0" marL="0">
              <a:lnSpc>
                <a:spcPct val="117000"/>
              </a:lnSpc>
              <a:buNone/>
            </a:pPr>
            <a:r>
              <a:rPr lang="en-US" sz="1100" dirty="0">
                <a:solidFill>
                  <a:srgbClr val="1F2937"/>
                </a:solidFill>
                <a:latin typeface="Fira Sans" pitchFamily="34" charset="0"/>
                <a:ea typeface="Fira Sans" pitchFamily="34" charset="-122"/>
                <a:cs typeface="Fira Sans"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189" y="457200"/>
            <a:ext cx="11734506" cy="302220"/>
          </a:xfrm>
          <a:prstGeom prst="rect">
            <a:avLst/>
          </a:prstGeom>
          <a:noFill/>
          <a:ln/>
        </p:spPr>
        <p:txBody>
          <a:bodyPr wrap="none" lIns="0" tIns="0" rIns="0" bIns="0" rtlCol="0" anchor="t"/>
          <a:lstStyle/>
          <a:p>
            <a:pPr algn="l" indent="0" marL="0">
              <a:lnSpc>
                <a:spcPct val="117000"/>
              </a:lnSpc>
              <a:buNone/>
            </a:pPr>
            <a:r>
              <a:rPr lang="en-US" sz="1700" spc="34" kern="0" dirty="0">
                <a:solidFill>
                  <a:srgbClr val="1F2937"/>
                </a:solidFill>
                <a:latin typeface="Fira Mono" pitchFamily="34" charset="0"/>
                <a:ea typeface="Fira Mono" pitchFamily="34" charset="-122"/>
                <a:cs typeface="Fira Mono" pitchFamily="34" charset="-120"/>
              </a:rPr>
              <a:t>THE BASIC MODEL</a:t>
            </a:r>
            <a:endParaRPr lang="en-US" sz="1700" dirty="0"/>
          </a:p>
        </p:txBody>
      </p:sp>
      <p:sp>
        <p:nvSpPr>
          <p:cNvPr id="3" name="Text 1"/>
          <p:cNvSpPr/>
          <p:nvPr/>
        </p:nvSpPr>
        <p:spPr>
          <a:xfrm>
            <a:off x="457189" y="1194395"/>
            <a:ext cx="11277318" cy="379710"/>
          </a:xfrm>
          <a:prstGeom prst="rect">
            <a:avLst/>
          </a:prstGeom>
          <a:noFill/>
          <a:ln/>
        </p:spPr>
        <p:txBody>
          <a:bodyPr wrap="none" lIns="0" tIns="0" rIns="0" bIns="0" rtlCol="0" anchor="t"/>
          <a:lstStyle/>
          <a:p>
            <a:pPr algn="l" indent="0" marL="0">
              <a:lnSpc>
                <a:spcPct val="96000"/>
              </a:lnSpc>
              <a:buNone/>
            </a:pPr>
            <a:r>
              <a:rPr lang="en-US" sz="2600" spc="-26" kern="0" dirty="0">
                <a:solidFill>
                  <a:srgbClr val="1F2937"/>
                </a:solidFill>
                <a:latin typeface="Fira Sans SemiBold" pitchFamily="34" charset="0"/>
                <a:ea typeface="Fira Sans SemiBold" pitchFamily="34" charset="-122"/>
                <a:cs typeface="Fira Sans SemiBold" pitchFamily="34" charset="-120"/>
              </a:rPr>
              <a:t>The basic model works, but depends on the parent</a:t>
            </a:r>
            <a:endParaRPr lang="en-US" sz="2600" dirty="0"/>
          </a:p>
        </p:txBody>
      </p:sp>
      <p:sp>
        <p:nvSpPr>
          <p:cNvPr id="4" name="Text 2"/>
          <p:cNvSpPr/>
          <p:nvPr/>
        </p:nvSpPr>
        <p:spPr>
          <a:xfrm>
            <a:off x="457189" y="1828105"/>
            <a:ext cx="11734506" cy="302220"/>
          </a:xfrm>
          <a:prstGeom prst="rect">
            <a:avLst/>
          </a:prstGeom>
          <a:noFill/>
          <a:ln/>
        </p:spPr>
        <p:txBody>
          <a:bodyPr wrap="none" lIns="0" tIns="0" rIns="0" bIns="0" rtlCol="0" anchor="t"/>
          <a:lstStyle/>
          <a:p>
            <a:pPr algn="l" indent="0" marL="0">
              <a:lnSpc>
                <a:spcPct val="117000"/>
              </a:lnSpc>
              <a:buNone/>
            </a:pPr>
            <a:r>
              <a:rPr lang="en-US" sz="1700" dirty="0">
                <a:solidFill>
                  <a:srgbClr val="1F2937"/>
                </a:solidFill>
                <a:latin typeface="Fira Sans" pitchFamily="34" charset="0"/>
                <a:ea typeface="Fira Sans" pitchFamily="34" charset="-122"/>
                <a:cs typeface="Fira Sans" pitchFamily="34" charset="-120"/>
              </a:rPr>
              <a:t>The operating system records the result; the parent must still collect it.</a:t>
            </a:r>
            <a:endParaRPr lang="en-US" sz="1700" dirty="0"/>
          </a:p>
        </p:txBody>
      </p:sp>
      <p:sp>
        <p:nvSpPr>
          <p:cNvPr id="5" name="Shape 3"/>
          <p:cNvSpPr/>
          <p:nvPr/>
        </p:nvSpPr>
        <p:spPr>
          <a:xfrm>
            <a:off x="457189" y="2358926"/>
            <a:ext cx="6674973" cy="3188097"/>
          </a:xfrm>
          <a:prstGeom prst="roundRect">
            <a:avLst>
              <a:gd name="adj" fmla="val 359"/>
            </a:avLst>
          </a:prstGeom>
          <a:solidFill>
            <a:srgbClr val="F9F7F7"/>
          </a:solidFill>
          <a:ln/>
        </p:spPr>
      </p:sp>
      <p:sp>
        <p:nvSpPr>
          <p:cNvPr id="6" name="Text 4"/>
          <p:cNvSpPr/>
          <p:nvPr/>
        </p:nvSpPr>
        <p:spPr>
          <a:xfrm>
            <a:off x="660383" y="2536726"/>
            <a:ext cx="6878168" cy="302220"/>
          </a:xfrm>
          <a:prstGeom prst="rect">
            <a:avLst/>
          </a:prstGeom>
          <a:noFill/>
          <a:ln/>
        </p:spPr>
        <p:txBody>
          <a:bodyPr wrap="none" lIns="0" tIns="0" rIns="0" bIns="0" rtlCol="0" anchor="t"/>
          <a:lstStyle/>
          <a:p>
            <a:pPr algn="l" indent="0" marL="0">
              <a:lnSpc>
                <a:spcPct val="117000"/>
              </a:lnSpc>
              <a:buNone/>
            </a:pPr>
            <a:r>
              <a:rPr lang="en-US" sz="1700" spc="34" kern="0" dirty="0">
                <a:solidFill>
                  <a:srgbClr val="1F2937"/>
                </a:solidFill>
                <a:latin typeface="Fira Mono" pitchFamily="34" charset="0"/>
                <a:ea typeface="Fira Mono" pitchFamily="34" charset="-122"/>
                <a:cs typeface="Fira Mono" pitchFamily="34" charset="-120"/>
              </a:rPr>
              <a:t>BASIC PATH</a:t>
            </a:r>
            <a:endParaRPr lang="en-US" sz="1700" dirty="0"/>
          </a:p>
        </p:txBody>
      </p:sp>
      <p:sp>
        <p:nvSpPr>
          <p:cNvPr id="7" name="Shape 5"/>
          <p:cNvSpPr/>
          <p:nvPr/>
        </p:nvSpPr>
        <p:spPr>
          <a:xfrm>
            <a:off x="660383" y="3038971"/>
            <a:ext cx="377816" cy="377825"/>
          </a:xfrm>
          <a:prstGeom prst="ellipse">
            <a:avLst/>
          </a:prstGeom>
          <a:solidFill>
            <a:srgbClr val="F26B1D"/>
          </a:solidFill>
          <a:ln w="12700">
            <a:solidFill>
              <a:srgbClr val="D8D4D4"/>
            </a:solidFill>
            <a:prstDash val="solid"/>
          </a:ln>
        </p:spPr>
      </p:sp>
      <p:sp>
        <p:nvSpPr>
          <p:cNvPr id="8" name="Text 6"/>
          <p:cNvSpPr/>
          <p:nvPr/>
        </p:nvSpPr>
        <p:spPr>
          <a:xfrm>
            <a:off x="788769" y="3119934"/>
            <a:ext cx="730529" cy="215900"/>
          </a:xfrm>
          <a:prstGeom prst="rect">
            <a:avLst/>
          </a:prstGeom>
          <a:noFill/>
          <a:ln/>
        </p:spPr>
        <p:txBody>
          <a:bodyPr wrap="none" lIns="0" tIns="0" rIns="0" bIns="0" rtlCol="0" anchor="t"/>
          <a:lstStyle/>
          <a:p>
            <a:pPr algn="l" indent="0" marL="0">
              <a:lnSpc>
                <a:spcPct val="83000"/>
              </a:lnSpc>
              <a:buNone/>
            </a:pPr>
            <a:r>
              <a:rPr lang="en-US" sz="1700" dirty="0">
                <a:solidFill>
                  <a:srgbClr val="FFFFFF"/>
                </a:solidFill>
                <a:latin typeface="Fira Sans SemiBold" pitchFamily="34" charset="0"/>
                <a:ea typeface="Fira Sans SemiBold" pitchFamily="34" charset="-122"/>
                <a:cs typeface="Fira Sans SemiBold" pitchFamily="34" charset="-120"/>
              </a:rPr>
              <a:t>1</a:t>
            </a:r>
            <a:endParaRPr lang="en-US" sz="1700" dirty="0"/>
          </a:p>
        </p:txBody>
      </p:sp>
      <p:sp>
        <p:nvSpPr>
          <p:cNvPr id="9" name="Text 7"/>
          <p:cNvSpPr/>
          <p:nvPr/>
        </p:nvSpPr>
        <p:spPr>
          <a:xfrm>
            <a:off x="1254094" y="3088184"/>
            <a:ext cx="5674873" cy="568920"/>
          </a:xfrm>
          <a:prstGeom prst="rect">
            <a:avLst/>
          </a:prstGeom>
          <a:noFill/>
          <a:ln/>
        </p:spPr>
        <p:txBody>
          <a:bodyPr wrap="square" lIns="0" tIns="0" rIns="0" bIns="0" rtlCol="0" anchor="t">
            <a:normAutofit/>
          </a:bodyPr>
          <a:lstStyle/>
          <a:p>
            <a:pPr algn="l" indent="0" marL="0">
              <a:lnSpc>
                <a:spcPct val="117000"/>
              </a:lnSpc>
              <a:buNone/>
            </a:pPr>
            <a:r>
              <a:rPr lang="en-US" sz="1600" b="1" dirty="0">
                <a:solidFill>
                  <a:srgbClr val="1F2937"/>
                </a:solidFill>
                <a:latin typeface="Fira Sans Bold" pitchFamily="34" charset="0"/>
                <a:ea typeface="Fira Sans Bold" pitchFamily="34" charset="-122"/>
                <a:cs typeface="Fira Sans Bold" pitchFamily="34" charset="-120"/>
              </a:rPr>
              <a:t>Process completes or is terminated</a:t>
            </a:r>
            <a:pPr algn="l" indent="0" marL="0">
              <a:lnSpc>
                <a:spcPct val="117000"/>
              </a:lnSpc>
              <a:buNone/>
            </a:pPr>
            <a:r>
              <a:rPr lang="en-US" sz="1600" dirty="0">
                <a:solidFill>
                  <a:srgbClr val="1F2937"/>
                </a:solidFill>
                <a:latin typeface="Fira Sans" pitchFamily="34" charset="0"/>
                <a:ea typeface="Fira Sans" pitchFamily="34" charset="-122"/>
                <a:cs typeface="Fira Sans" pitchFamily="34" charset="-120"/>
              </a:rPr>
              <a:t> — Execution stops normally or because of a signal or request.</a:t>
            </a:r>
            <a:endParaRPr lang="en-US" sz="1600" dirty="0"/>
          </a:p>
        </p:txBody>
      </p:sp>
      <p:sp>
        <p:nvSpPr>
          <p:cNvPr id="10" name="Shape 8"/>
          <p:cNvSpPr/>
          <p:nvPr/>
        </p:nvSpPr>
        <p:spPr>
          <a:xfrm>
            <a:off x="660383" y="3758704"/>
            <a:ext cx="377816" cy="377825"/>
          </a:xfrm>
          <a:prstGeom prst="ellipse">
            <a:avLst/>
          </a:prstGeom>
          <a:solidFill>
            <a:srgbClr val="F26B1D"/>
          </a:solidFill>
          <a:ln w="12700">
            <a:solidFill>
              <a:srgbClr val="D8D4D4"/>
            </a:solidFill>
            <a:prstDash val="solid"/>
          </a:ln>
        </p:spPr>
      </p:sp>
      <p:sp>
        <p:nvSpPr>
          <p:cNvPr id="11" name="Text 9"/>
          <p:cNvSpPr/>
          <p:nvPr/>
        </p:nvSpPr>
        <p:spPr>
          <a:xfrm>
            <a:off x="788769" y="3839666"/>
            <a:ext cx="730529" cy="215900"/>
          </a:xfrm>
          <a:prstGeom prst="rect">
            <a:avLst/>
          </a:prstGeom>
          <a:noFill/>
          <a:ln/>
        </p:spPr>
        <p:txBody>
          <a:bodyPr wrap="none" lIns="0" tIns="0" rIns="0" bIns="0" rtlCol="0" anchor="t"/>
          <a:lstStyle/>
          <a:p>
            <a:pPr algn="l" indent="0" marL="0">
              <a:lnSpc>
                <a:spcPct val="83000"/>
              </a:lnSpc>
              <a:buNone/>
            </a:pPr>
            <a:r>
              <a:rPr lang="en-US" sz="1700" dirty="0">
                <a:solidFill>
                  <a:srgbClr val="FFFFFF"/>
                </a:solidFill>
                <a:latin typeface="Fira Sans SemiBold" pitchFamily="34" charset="0"/>
                <a:ea typeface="Fira Sans SemiBold" pitchFamily="34" charset="-122"/>
                <a:cs typeface="Fira Sans SemiBold" pitchFamily="34" charset="-120"/>
              </a:rPr>
              <a:t>2</a:t>
            </a:r>
            <a:endParaRPr lang="en-US" sz="1700" dirty="0"/>
          </a:p>
        </p:txBody>
      </p:sp>
      <p:sp>
        <p:nvSpPr>
          <p:cNvPr id="12" name="Text 10"/>
          <p:cNvSpPr/>
          <p:nvPr/>
        </p:nvSpPr>
        <p:spPr>
          <a:xfrm>
            <a:off x="1254094" y="3807916"/>
            <a:ext cx="5674873" cy="568920"/>
          </a:xfrm>
          <a:prstGeom prst="rect">
            <a:avLst/>
          </a:prstGeom>
          <a:noFill/>
          <a:ln/>
        </p:spPr>
        <p:txBody>
          <a:bodyPr wrap="square" lIns="0" tIns="0" rIns="0" bIns="0" rtlCol="0" anchor="t">
            <a:normAutofit/>
          </a:bodyPr>
          <a:lstStyle/>
          <a:p>
            <a:pPr algn="l" indent="0" marL="0">
              <a:lnSpc>
                <a:spcPct val="117000"/>
              </a:lnSpc>
              <a:buNone/>
            </a:pPr>
            <a:r>
              <a:rPr lang="en-US" sz="1600" b="1" dirty="0">
                <a:solidFill>
                  <a:srgbClr val="1F2937"/>
                </a:solidFill>
                <a:latin typeface="Fira Sans Bold" pitchFamily="34" charset="0"/>
                <a:ea typeface="Fira Sans Bold" pitchFamily="34" charset="-122"/>
                <a:cs typeface="Fira Sans Bold" pitchFamily="34" charset="-120"/>
              </a:rPr>
              <a:t>OS records an exit status</a:t>
            </a:r>
            <a:pPr algn="l" indent="0" marL="0">
              <a:lnSpc>
                <a:spcPct val="117000"/>
              </a:lnSpc>
              <a:buNone/>
            </a:pPr>
            <a:r>
              <a:rPr lang="en-US" sz="1600" dirty="0">
                <a:solidFill>
                  <a:srgbClr val="1F2937"/>
                </a:solidFill>
                <a:latin typeface="Fira Sans" pitchFamily="34" charset="0"/>
                <a:ea typeface="Fira Sans" pitchFamily="34" charset="-122"/>
                <a:cs typeface="Fira Sans" pitchFamily="34" charset="-120"/>
              </a:rPr>
              <a:t> — Most process resources are removed.</a:t>
            </a:r>
            <a:endParaRPr lang="en-US" sz="1600" dirty="0"/>
          </a:p>
        </p:txBody>
      </p:sp>
      <p:sp>
        <p:nvSpPr>
          <p:cNvPr id="13" name="Shape 11"/>
          <p:cNvSpPr/>
          <p:nvPr/>
        </p:nvSpPr>
        <p:spPr>
          <a:xfrm>
            <a:off x="660383" y="4478437"/>
            <a:ext cx="377816" cy="377825"/>
          </a:xfrm>
          <a:prstGeom prst="ellipse">
            <a:avLst/>
          </a:prstGeom>
          <a:solidFill>
            <a:srgbClr val="F26B1D"/>
          </a:solidFill>
          <a:ln w="12700">
            <a:solidFill>
              <a:srgbClr val="D8D4D4"/>
            </a:solidFill>
            <a:prstDash val="solid"/>
          </a:ln>
        </p:spPr>
      </p:sp>
      <p:sp>
        <p:nvSpPr>
          <p:cNvPr id="14" name="Text 12"/>
          <p:cNvSpPr/>
          <p:nvPr/>
        </p:nvSpPr>
        <p:spPr>
          <a:xfrm>
            <a:off x="788769" y="4559399"/>
            <a:ext cx="730529" cy="215900"/>
          </a:xfrm>
          <a:prstGeom prst="rect">
            <a:avLst/>
          </a:prstGeom>
          <a:noFill/>
          <a:ln/>
        </p:spPr>
        <p:txBody>
          <a:bodyPr wrap="none" lIns="0" tIns="0" rIns="0" bIns="0" rtlCol="0" anchor="t"/>
          <a:lstStyle/>
          <a:p>
            <a:pPr algn="l" indent="0" marL="0">
              <a:lnSpc>
                <a:spcPct val="83000"/>
              </a:lnSpc>
              <a:buNone/>
            </a:pPr>
            <a:r>
              <a:rPr lang="en-US" sz="1700" dirty="0">
                <a:solidFill>
                  <a:srgbClr val="FFFFFF"/>
                </a:solidFill>
                <a:latin typeface="Fira Sans SemiBold" pitchFamily="34" charset="0"/>
                <a:ea typeface="Fira Sans SemiBold" pitchFamily="34" charset="-122"/>
                <a:cs typeface="Fira Sans SemiBold" pitchFamily="34" charset="-120"/>
              </a:rPr>
              <a:t>3</a:t>
            </a:r>
            <a:endParaRPr lang="en-US" sz="1700" dirty="0"/>
          </a:p>
        </p:txBody>
      </p:sp>
      <p:sp>
        <p:nvSpPr>
          <p:cNvPr id="15" name="Text 13"/>
          <p:cNvSpPr/>
          <p:nvPr/>
        </p:nvSpPr>
        <p:spPr>
          <a:xfrm>
            <a:off x="1254094" y="4527649"/>
            <a:ext cx="5674873" cy="568920"/>
          </a:xfrm>
          <a:prstGeom prst="rect">
            <a:avLst/>
          </a:prstGeom>
          <a:noFill/>
          <a:ln/>
        </p:spPr>
        <p:txBody>
          <a:bodyPr wrap="square" lIns="0" tIns="0" rIns="0" bIns="0" rtlCol="0" anchor="t">
            <a:normAutofit/>
          </a:bodyPr>
          <a:lstStyle/>
          <a:p>
            <a:pPr algn="l" indent="0" marL="0">
              <a:lnSpc>
                <a:spcPct val="117000"/>
              </a:lnSpc>
              <a:buNone/>
            </a:pPr>
            <a:r>
              <a:rPr lang="en-US" sz="1600" b="1" dirty="0">
                <a:solidFill>
                  <a:srgbClr val="1F2937"/>
                </a:solidFill>
                <a:latin typeface="Fira Sans Bold" pitchFamily="34" charset="0"/>
                <a:ea typeface="Fira Sans Bold" pitchFamily="34" charset="-122"/>
                <a:cs typeface="Fira Sans Bold" pitchFamily="34" charset="-120"/>
              </a:rPr>
              <a:t>Parent calls </a:t>
            </a:r>
            <a:pPr algn="l" indent="0" marL="0">
              <a:lnSpc>
                <a:spcPct val="117000"/>
              </a:lnSpc>
              <a:buNone/>
            </a:pPr>
            <a:r>
              <a:rPr lang="en-US" sz="1600" b="1" dirty="0">
                <a:solidFill>
                  <a:srgbClr val="1F2937"/>
                </a:solidFill>
                <a:highlight>
                  <a:srgbClr val="F3F5F8"/>
                </a:highlight>
                <a:latin typeface="Consolas" pitchFamily="34" charset="0"/>
                <a:ea typeface="Consolas" pitchFamily="34" charset="-122"/>
                <a:cs typeface="Consolas" pitchFamily="34" charset="-120"/>
              </a:rPr>
              <a:t>wait()</a:t>
            </a:r>
            <a:pPr algn="l" indent="0" marL="0">
              <a:lnSpc>
                <a:spcPct val="117000"/>
              </a:lnSpc>
              <a:buNone/>
            </a:pPr>
            <a:r>
              <a:rPr lang="en-US" sz="1600" b="1" dirty="0">
                <a:solidFill>
                  <a:srgbClr val="1F2937"/>
                </a:solidFill>
                <a:latin typeface="Fira Sans Bold" pitchFamily="34" charset="0"/>
                <a:ea typeface="Fira Sans Bold" pitchFamily="34" charset="-122"/>
                <a:cs typeface="Fira Sans Bold" pitchFamily="34" charset="-120"/>
              </a:rPr>
              <a:t> or </a:t>
            </a:r>
            <a:pPr algn="l" indent="0" marL="0">
              <a:lnSpc>
                <a:spcPct val="117000"/>
              </a:lnSpc>
              <a:buNone/>
            </a:pPr>
            <a:r>
              <a:rPr lang="en-US" sz="1600" b="1" dirty="0">
                <a:solidFill>
                  <a:srgbClr val="1F2937"/>
                </a:solidFill>
                <a:highlight>
                  <a:srgbClr val="F3F5F8"/>
                </a:highlight>
                <a:latin typeface="Consolas" pitchFamily="34" charset="0"/>
                <a:ea typeface="Consolas" pitchFamily="34" charset="-122"/>
                <a:cs typeface="Consolas" pitchFamily="34" charset="-120"/>
              </a:rPr>
              <a:t>waitpid()</a:t>
            </a:r>
            <a:pPr algn="l" indent="0" marL="0">
              <a:lnSpc>
                <a:spcPct val="117000"/>
              </a:lnSpc>
              <a:buNone/>
            </a:pPr>
            <a:r>
              <a:rPr lang="en-US" sz="1600" dirty="0">
                <a:solidFill>
                  <a:srgbClr val="1F2937"/>
                </a:solidFill>
                <a:latin typeface="Fira Sans" pitchFamily="34" charset="0"/>
                <a:ea typeface="Fira Sans" pitchFamily="34" charset="-122"/>
                <a:cs typeface="Fira Sans" pitchFamily="34" charset="-120"/>
              </a:rPr>
              <a:t> — Termination information is collected.</a:t>
            </a:r>
            <a:endParaRPr lang="en-US" sz="1600" dirty="0"/>
          </a:p>
        </p:txBody>
      </p:sp>
      <p:sp>
        <p:nvSpPr>
          <p:cNvPr id="16" name="Shape 14"/>
          <p:cNvSpPr/>
          <p:nvPr/>
        </p:nvSpPr>
        <p:spPr>
          <a:xfrm>
            <a:off x="2370475" y="4559399"/>
            <a:ext cx="749182" cy="228600"/>
          </a:xfrm>
          <a:prstGeom prst="roundRect">
            <a:avLst>
              <a:gd name="adj" fmla="val 20000"/>
            </a:avLst>
          </a:prstGeom>
          <a:solidFill>
            <a:srgbClr val="F3F5F8"/>
          </a:solidFill>
          <a:ln/>
        </p:spPr>
      </p:sp>
      <p:sp>
        <p:nvSpPr>
          <p:cNvPr id="17" name="Shape 15"/>
          <p:cNvSpPr/>
          <p:nvPr/>
        </p:nvSpPr>
        <p:spPr>
          <a:xfrm>
            <a:off x="3397562" y="4559399"/>
            <a:ext cx="1085624" cy="228600"/>
          </a:xfrm>
          <a:prstGeom prst="roundRect">
            <a:avLst>
              <a:gd name="adj" fmla="val 20000"/>
            </a:avLst>
          </a:prstGeom>
          <a:solidFill>
            <a:srgbClr val="F3F5F8"/>
          </a:solidFill>
          <a:ln/>
        </p:spPr>
      </p:sp>
      <p:sp>
        <p:nvSpPr>
          <p:cNvPr id="18" name="Text 16"/>
          <p:cNvSpPr/>
          <p:nvPr/>
        </p:nvSpPr>
        <p:spPr>
          <a:xfrm>
            <a:off x="7284458" y="2587526"/>
            <a:ext cx="4907237" cy="302220"/>
          </a:xfrm>
          <a:prstGeom prst="rect">
            <a:avLst/>
          </a:prstGeom>
          <a:noFill/>
          <a:ln/>
        </p:spPr>
        <p:txBody>
          <a:bodyPr wrap="none" lIns="0" tIns="0" rIns="0" bIns="0" rtlCol="0" anchor="t"/>
          <a:lstStyle/>
          <a:p>
            <a:pPr algn="l" indent="0" marL="0">
              <a:lnSpc>
                <a:spcPct val="117000"/>
              </a:lnSpc>
              <a:buNone/>
            </a:pPr>
            <a:r>
              <a:rPr lang="en-US" sz="1700" spc="34" kern="0" dirty="0">
                <a:solidFill>
                  <a:srgbClr val="1F2937"/>
                </a:solidFill>
                <a:latin typeface="Fira Mono" pitchFamily="34" charset="0"/>
                <a:ea typeface="Fira Mono" pitchFamily="34" charset="-122"/>
                <a:cs typeface="Fira Mono" pitchFamily="34" charset="-120"/>
              </a:rPr>
              <a:t>STATUS RECORD</a:t>
            </a:r>
            <a:endParaRPr lang="en-US" sz="17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284458" y="3038971"/>
          <a:ext cx="9143771" cy="914400"/>
        </p:xfrm>
        <a:graphic>
          <a:graphicData uri="http://schemas.openxmlformats.org/drawingml/2006/table">
            <a:tbl>
              <a:tblPr/>
              <a:tblGrid>
                <a:gridCol w="2521694"/>
                <a:gridCol w="1928354"/>
              </a:tblGrid>
              <a:tr h="384761">
                <a:tc>
                  <a:txBody>
                    <a:bodyPr/>
                    <a:lstStyle/>
                    <a:p>
                      <a:pPr indent="0" marL="0">
                        <a:buNone/>
                      </a:pPr>
                      <a:r>
                        <a:rPr lang="en-US" sz="1700" dirty="0">
                          <a:solidFill>
                            <a:srgbClr val="5B6577"/>
                          </a:solidFill>
                          <a:latin typeface="Fira Mono" pitchFamily="34" charset="0"/>
                          <a:ea typeface="Fira Mono" pitchFamily="34" charset="-122"/>
                          <a:cs typeface="Fira Mono" pitchFamily="34" charset="-120"/>
                        </a:rPr>
                        <a:t>field</a:t>
                      </a:r>
                      <a:endParaRPr lang="en-US" sz="1700" dirty="0">
                        <a:latin typeface="Fira Mono" charset="0"/>
                        <a:ea typeface="Fira Mono" charset="0"/>
                        <a:cs typeface="Fira Mono" charset="0"/>
                      </a:endParaRPr>
                    </a:p>
                  </a:txBody>
                  <a:tcPr marL="101598" marR="101598" marT="38099" marB="38099" anchor="ctr">
                    <a:lnL w="12700" cap="flat" cmpd="sng" algn="ctr">
                      <a:solidFill>
                        <a:srgbClr val="F3F5F8"/>
                      </a:solidFill>
                      <a:prstDash val="solid"/>
                      <a:round/>
                      <a:headEnd type="none" w="med" len="med"/>
                      <a:tailEnd type="none" w="med" len="med"/>
                    </a:lnL>
                    <a:lnR w="12700" cap="flat" cmpd="sng" algn="ctr">
                      <a:solidFill>
                        <a:srgbClr val="F3F5F8"/>
                      </a:solidFill>
                      <a:prstDash val="solid"/>
                      <a:round/>
                      <a:headEnd type="none" w="med" len="med"/>
                      <a:tailEnd type="none" w="med" len="med"/>
                    </a:lnR>
                    <a:lnT w="12700" cap="flat" cmpd="sng" algn="ctr">
                      <a:solidFill>
                        <a:srgbClr val="F3F5F8"/>
                      </a:solidFill>
                      <a:prstDash val="solid"/>
                      <a:round/>
                      <a:headEnd type="none" w="med" len="med"/>
                      <a:tailEnd type="none" w="med" len="med"/>
                    </a:lnT>
                    <a:lnB w="12700" cap="flat" cmpd="sng" algn="ctr">
                      <a:solidFill>
                        <a:srgbClr val="CBD3DE"/>
                      </a:solidFill>
                      <a:prstDash val="solid"/>
                      <a:round/>
                      <a:headEnd type="none" w="med" len="med"/>
                      <a:tailEnd type="none" w="med" len="med"/>
                    </a:lnB>
                    <a:solidFill>
                      <a:srgbClr val="F3F5F8"/>
                    </a:solidFill>
                  </a:tcPr>
                </a:tc>
                <a:tc>
                  <a:txBody>
                    <a:bodyPr/>
                    <a:lstStyle/>
                    <a:p>
                      <a:pPr indent="0" marL="0">
                        <a:buNone/>
                      </a:pPr>
                      <a:r>
                        <a:rPr lang="en-US" sz="1700" dirty="0">
                          <a:solidFill>
                            <a:srgbClr val="5B6577"/>
                          </a:solidFill>
                          <a:latin typeface="Fira Mono" pitchFamily="34" charset="0"/>
                          <a:ea typeface="Fira Mono" pitchFamily="34" charset="-122"/>
                          <a:cs typeface="Fira Mono" pitchFamily="34" charset="-120"/>
                        </a:rPr>
                        <a:t>value</a:t>
                      </a:r>
                      <a:endParaRPr lang="en-US" sz="1700" dirty="0">
                        <a:latin typeface="Fira Mono" charset="0"/>
                        <a:ea typeface="Fira Mono" charset="0"/>
                        <a:cs typeface="Fira Mono" charset="0"/>
                      </a:endParaRPr>
                    </a:p>
                  </a:txBody>
                  <a:tcPr marL="101598" marR="101598" marT="38099" marB="38099" anchor="ctr">
                    <a:lnL w="12700" cap="flat" cmpd="sng" algn="ctr">
                      <a:solidFill>
                        <a:srgbClr val="F3F5F8"/>
                      </a:solidFill>
                      <a:prstDash val="solid"/>
                      <a:round/>
                      <a:headEnd type="none" w="med" len="med"/>
                      <a:tailEnd type="none" w="med" len="med"/>
                    </a:lnL>
                    <a:lnR w="12700" cap="flat" cmpd="sng" algn="ctr">
                      <a:solidFill>
                        <a:srgbClr val="F3F5F8"/>
                      </a:solidFill>
                      <a:prstDash val="solid"/>
                      <a:round/>
                      <a:headEnd type="none" w="med" len="med"/>
                      <a:tailEnd type="none" w="med" len="med"/>
                    </a:lnR>
                    <a:lnT w="12700" cap="flat" cmpd="sng" algn="ctr">
                      <a:solidFill>
                        <a:srgbClr val="F3F5F8"/>
                      </a:solidFill>
                      <a:prstDash val="solid"/>
                      <a:round/>
                      <a:headEnd type="none" w="med" len="med"/>
                      <a:tailEnd type="none" w="med" len="med"/>
                    </a:lnT>
                    <a:lnB w="12700" cap="flat" cmpd="sng" algn="ctr">
                      <a:solidFill>
                        <a:srgbClr val="CBD3DE"/>
                      </a:solidFill>
                      <a:prstDash val="solid"/>
                      <a:round/>
                      <a:headEnd type="none" w="med" len="med"/>
                      <a:tailEnd type="none" w="med" len="med"/>
                    </a:lnB>
                    <a:solidFill>
                      <a:srgbClr val="F3F5F8"/>
                    </a:solidFill>
                  </a:tcPr>
                </a:tc>
              </a:tr>
              <a:tr h="384761">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PID</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CBD3DE"/>
                      </a:solidFill>
                      <a:prstDash val="solid"/>
                      <a:round/>
                      <a:headEnd type="none" w="med" len="med"/>
                      <a:tailEnd type="none" w="med" len="med"/>
                    </a:lnB>
                  </a:tcPr>
                </a:tc>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child</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CBD3DE"/>
                      </a:solidFill>
                      <a:prstDash val="solid"/>
                      <a:round/>
                      <a:headEnd type="none" w="med" len="med"/>
                      <a:tailEnd type="none" w="med" len="med"/>
                    </a:lnB>
                  </a:tcPr>
                </a:tc>
              </a:tr>
              <a:tr h="384761">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PPID</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CBD3DE"/>
                      </a:solidFill>
                      <a:prstDash val="solid"/>
                      <a:round/>
                      <a:headEnd type="none" w="med" len="med"/>
                      <a:tailEnd type="none" w="med" len="med"/>
                    </a:lnB>
                  </a:tcPr>
                </a:tc>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parent</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CBD3DE"/>
                      </a:solidFill>
                      <a:prstDash val="solid"/>
                      <a:round/>
                      <a:headEnd type="none" w="med" len="med"/>
                      <a:tailEnd type="none" w="med" len="med"/>
                    </a:lnB>
                  </a:tcPr>
                </a:tc>
              </a:tr>
              <a:tr h="384761">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status</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CBD3DE"/>
                      </a:solidFill>
                      <a:prstDash val="solid"/>
                      <a:round/>
                      <a:headEnd type="none" w="med" len="med"/>
                      <a:tailEnd type="none" w="med" len="med"/>
                    </a:lnB>
                  </a:tcPr>
                </a:tc>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exit / signal</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CBD3DE"/>
                      </a:solidFill>
                      <a:prstDash val="solid"/>
                      <a:round/>
                      <a:headEnd type="none" w="med" len="med"/>
                      <a:tailEnd type="none" w="med" len="med"/>
                    </a:lnB>
                  </a:tcPr>
                </a:tc>
              </a:tr>
              <a:tr h="384761">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owner</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parent</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sp>
        <p:nvSpPr>
          <p:cNvPr id="20" name="Text 17"/>
          <p:cNvSpPr/>
          <p:nvPr/>
        </p:nvSpPr>
        <p:spPr>
          <a:xfrm>
            <a:off x="7284458" y="5112048"/>
            <a:ext cx="4907237" cy="206375"/>
          </a:xfrm>
          <a:prstGeom prst="rect">
            <a:avLst/>
          </a:prstGeom>
          <a:noFill/>
          <a:ln/>
        </p:spPr>
        <p:txBody>
          <a:bodyPr wrap="none" lIns="0" tIns="0" rIns="0" bIns="0" rtlCol="0" anchor="t"/>
          <a:lstStyle/>
          <a:p>
            <a:pPr algn="l" indent="0" marL="0">
              <a:lnSpc>
                <a:spcPct val="108000"/>
              </a:lnSpc>
              <a:buNone/>
            </a:pPr>
            <a:r>
              <a:rPr lang="en-US" sz="1250" dirty="0">
                <a:solidFill>
                  <a:srgbClr val="5B6577"/>
                </a:solidFill>
                <a:latin typeface="Fira Sans" pitchFamily="34" charset="0"/>
                <a:ea typeface="Fira Sans" pitchFamily="34" charset="-122"/>
                <a:cs typeface="Fira Sans" pitchFamily="34" charset="-120"/>
              </a:rPr>
              <a:t>The record is useful only after collection.</a:t>
            </a:r>
            <a:endParaRPr lang="en-US" sz="1250" dirty="0"/>
          </a:p>
        </p:txBody>
      </p:sp>
      <p:sp>
        <p:nvSpPr>
          <p:cNvPr id="21" name="Shape 18"/>
          <p:cNvSpPr/>
          <p:nvPr/>
        </p:nvSpPr>
        <p:spPr>
          <a:xfrm>
            <a:off x="457189" y="5775623"/>
            <a:ext cx="3708307" cy="721320"/>
          </a:xfrm>
          <a:prstGeom prst="rect">
            <a:avLst/>
          </a:prstGeom>
          <a:solidFill>
            <a:srgbClr val="2B3544"/>
          </a:solidFill>
          <a:ln/>
        </p:spPr>
      </p:sp>
      <p:sp>
        <p:nvSpPr>
          <p:cNvPr id="22" name="Text 19"/>
          <p:cNvSpPr/>
          <p:nvPr/>
        </p:nvSpPr>
        <p:spPr>
          <a:xfrm>
            <a:off x="584185" y="5851823"/>
            <a:ext cx="3454314" cy="568920"/>
          </a:xfrm>
          <a:prstGeom prst="rect">
            <a:avLst/>
          </a:prstGeom>
          <a:noFill/>
          <a:ln/>
        </p:spPr>
        <p:txBody>
          <a:bodyPr wrap="square" lIns="0" tIns="0" rIns="0" bIns="0" rtlCol="0" anchor="t">
            <a:normAutofit/>
          </a:bodyPr>
          <a:lstStyle/>
          <a:p>
            <a:pPr algn="l" indent="0" marL="0">
              <a:lnSpc>
                <a:spcPct val="117000"/>
              </a:lnSpc>
              <a:buNone/>
            </a:pPr>
            <a:r>
              <a:rPr lang="en-US" sz="1600" b="1" dirty="0">
                <a:solidFill>
                  <a:srgbClr val="E5EAF2"/>
                </a:solidFill>
                <a:latin typeface="Fira Sans Bold" pitchFamily="34" charset="0"/>
                <a:ea typeface="Fira Sans Bold" pitchFamily="34" charset="-122"/>
                <a:cs typeface="Fira Sans Bold" pitchFamily="34" charset="-120"/>
              </a:rPr>
              <a:t>Strength</a:t>
            </a:r>
            <a:pPr algn="l" indent="0" marL="0">
              <a:lnSpc>
                <a:spcPct val="117000"/>
              </a:lnSpc>
              <a:buNone/>
            </a:pPr>
            <a:r>
              <a:rPr lang="en-US" sz="1600" dirty="0">
                <a:solidFill>
                  <a:srgbClr val="FFFFFF"/>
                </a:solidFill>
                <a:latin typeface="Fira Sans" pitchFamily="34" charset="0"/>
                <a:ea typeface="Fira Sans" pitchFamily="34" charset="-122"/>
                <a:cs typeface="Fira Sans" pitchFamily="34" charset="-120"/>
              </a:rPr>
              <a:t> · </a:t>
            </a:r>
            <a:pPr algn="l" indent="0" marL="0">
              <a:lnSpc>
                <a:spcPct val="117000"/>
              </a:lnSpc>
              <a:buNone/>
            </a:pPr>
            <a:r>
              <a:rPr lang="en-US" sz="1600" dirty="0">
                <a:solidFill>
                  <a:srgbClr val="E5EAF2"/>
                </a:solidFill>
                <a:latin typeface="Fira Sans" pitchFamily="34" charset="0"/>
                <a:ea typeface="Fira Sans" pitchFamily="34" charset="-122"/>
                <a:cs typeface="Fira Sans" pitchFamily="34" charset="-120"/>
              </a:rPr>
              <a:t>Simple and widely understood parent–child model.</a:t>
            </a:r>
            <a:endParaRPr lang="en-US" sz="1600" dirty="0"/>
          </a:p>
        </p:txBody>
      </p:sp>
      <p:sp>
        <p:nvSpPr>
          <p:cNvPr id="23" name="Shape 20"/>
          <p:cNvSpPr/>
          <p:nvPr/>
        </p:nvSpPr>
        <p:spPr>
          <a:xfrm>
            <a:off x="4317892" y="5775623"/>
            <a:ext cx="7416614" cy="721320"/>
          </a:xfrm>
          <a:prstGeom prst="rect">
            <a:avLst/>
          </a:prstGeom>
          <a:solidFill>
            <a:srgbClr val="F3F5F8"/>
          </a:solidFill>
          <a:ln/>
        </p:spPr>
      </p:sp>
      <p:sp>
        <p:nvSpPr>
          <p:cNvPr id="24" name="Text 21"/>
          <p:cNvSpPr/>
          <p:nvPr/>
        </p:nvSpPr>
        <p:spPr>
          <a:xfrm>
            <a:off x="4444889" y="5851823"/>
            <a:ext cx="7162621" cy="568920"/>
          </a:xfrm>
          <a:prstGeom prst="rect">
            <a:avLst/>
          </a:prstGeom>
          <a:noFill/>
          <a:ln/>
        </p:spPr>
        <p:txBody>
          <a:bodyPr wrap="square" lIns="0" tIns="0" rIns="0" bIns="0" rtlCol="0" anchor="t">
            <a:normAutofit/>
          </a:bodyPr>
          <a:lstStyle/>
          <a:p>
            <a:pPr algn="l" indent="0" marL="0">
              <a:lnSpc>
                <a:spcPct val="117000"/>
              </a:lnSpc>
              <a:buNone/>
            </a:pPr>
            <a:r>
              <a:rPr lang="en-US" sz="1600" b="1" dirty="0">
                <a:solidFill>
                  <a:srgbClr val="1F2937"/>
                </a:solidFill>
                <a:latin typeface="Fira Sans Bold" pitchFamily="34" charset="0"/>
                <a:ea typeface="Fira Sans Bold" pitchFamily="34" charset="-122"/>
                <a:cs typeface="Fira Sans Bold" pitchFamily="34" charset="-120"/>
              </a:rPr>
              <a:t>Limitation</a:t>
            </a:r>
            <a:pPr algn="l" indent="0" marL="0">
              <a:lnSpc>
                <a:spcPct val="117000"/>
              </a:lnSpc>
              <a:buNone/>
            </a:pPr>
            <a:r>
              <a:rPr lang="en-US" sz="1600" dirty="0">
                <a:solidFill>
                  <a:srgbClr val="1F2937"/>
                </a:solidFill>
                <a:latin typeface="Fira Sans" pitchFamily="34" charset="0"/>
                <a:ea typeface="Fira Sans" pitchFamily="34" charset="-122"/>
                <a:cs typeface="Fira Sans" pitchFamily="34" charset="-120"/>
              </a:rPr>
              <a:t> · A parent that never waits can leave a zombie entry; status handling may be too generic for monitoring and debugging.</a:t>
            </a:r>
            <a:endParaRPr lang="en-US" sz="1600" dirty="0"/>
          </a:p>
        </p:txBody>
      </p:sp>
      <p:sp>
        <p:nvSpPr>
          <p:cNvPr id="25" name="Shape 22"/>
          <p:cNvSpPr/>
          <p:nvPr/>
        </p:nvSpPr>
        <p:spPr>
          <a:xfrm>
            <a:off x="660383" y="3701554"/>
            <a:ext cx="6268583" cy="12700"/>
          </a:xfrm>
          <a:prstGeom prst="rect">
            <a:avLst/>
          </a:prstGeom>
          <a:solidFill>
            <a:srgbClr val="CBD3DE"/>
          </a:solidFill>
          <a:ln/>
        </p:spPr>
      </p:sp>
      <p:sp>
        <p:nvSpPr>
          <p:cNvPr id="26" name="Shape 23"/>
          <p:cNvSpPr/>
          <p:nvPr/>
        </p:nvSpPr>
        <p:spPr>
          <a:xfrm>
            <a:off x="660383" y="4421287"/>
            <a:ext cx="6268583" cy="12700"/>
          </a:xfrm>
          <a:prstGeom prst="rect">
            <a:avLst/>
          </a:prstGeom>
          <a:solidFill>
            <a:srgbClr val="CBD3DE"/>
          </a:solidFill>
          <a:ln/>
        </p:spPr>
      </p:sp>
      <p:sp>
        <p:nvSpPr>
          <p:cNvPr id="27" name="Text 24"/>
          <p:cNvSpPr/>
          <p:nvPr/>
        </p:nvSpPr>
        <p:spPr>
          <a:xfrm>
            <a:off x="11656225" y="6531570"/>
            <a:ext cx="535470" cy="195560"/>
          </a:xfrm>
          <a:prstGeom prst="rect">
            <a:avLst/>
          </a:prstGeom>
          <a:noFill/>
          <a:ln/>
        </p:spPr>
        <p:txBody>
          <a:bodyPr wrap="none" lIns="0" tIns="0" rIns="0" bIns="0" rtlCol="0" anchor="ctr"/>
          <a:lstStyle/>
          <a:p>
            <a:pPr algn="l" indent="0" marL="0">
              <a:lnSpc>
                <a:spcPct val="117000"/>
              </a:lnSpc>
              <a:buNone/>
            </a:pPr>
            <a:r>
              <a:rPr lang="en-US" sz="1100" dirty="0">
                <a:solidFill>
                  <a:srgbClr val="1F2937"/>
                </a:solidFill>
                <a:latin typeface="Fira Sans" pitchFamily="34" charset="0"/>
                <a:ea typeface="Fira Sans" pitchFamily="34" charset="-122"/>
                <a:cs typeface="Fira Sans"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189" y="457200"/>
            <a:ext cx="11734506" cy="302220"/>
          </a:xfrm>
          <a:prstGeom prst="rect">
            <a:avLst/>
          </a:prstGeom>
          <a:noFill/>
          <a:ln/>
        </p:spPr>
        <p:txBody>
          <a:bodyPr wrap="none" lIns="0" tIns="0" rIns="0" bIns="0" rtlCol="0" anchor="t"/>
          <a:lstStyle/>
          <a:p>
            <a:pPr algn="l" indent="0" marL="0">
              <a:lnSpc>
                <a:spcPct val="117000"/>
              </a:lnSpc>
              <a:buNone/>
            </a:pPr>
            <a:r>
              <a:rPr lang="en-US" sz="1700" spc="34" kern="0" dirty="0">
                <a:solidFill>
                  <a:srgbClr val="1F2937"/>
                </a:solidFill>
                <a:latin typeface="Fira Mono" pitchFamily="34" charset="0"/>
                <a:ea typeface="Fira Mono" pitchFamily="34" charset="-122"/>
                <a:cs typeface="Fira Mono" pitchFamily="34" charset="-120"/>
              </a:rPr>
              <a:t>THE PROPOSED WORKFLOW</a:t>
            </a:r>
            <a:endParaRPr lang="en-US" sz="1700" dirty="0"/>
          </a:p>
        </p:txBody>
      </p:sp>
      <p:sp>
        <p:nvSpPr>
          <p:cNvPr id="3" name="Text 1"/>
          <p:cNvSpPr/>
          <p:nvPr/>
        </p:nvSpPr>
        <p:spPr>
          <a:xfrm>
            <a:off x="457189" y="1194395"/>
            <a:ext cx="11277318" cy="408880"/>
          </a:xfrm>
          <a:prstGeom prst="rect">
            <a:avLst/>
          </a:prstGeom>
          <a:noFill/>
          <a:ln/>
        </p:spPr>
        <p:txBody>
          <a:bodyPr wrap="none" lIns="0" tIns="0" rIns="0" bIns="0" rtlCol="0" anchor="t"/>
          <a:lstStyle/>
          <a:p>
            <a:pPr algn="l" indent="0" marL="0">
              <a:lnSpc>
                <a:spcPct val="96000"/>
              </a:lnSpc>
              <a:buNone/>
            </a:pPr>
            <a:r>
              <a:rPr lang="en-US" sz="2800" spc="-28" kern="0" dirty="0">
                <a:solidFill>
                  <a:srgbClr val="1F2937"/>
                </a:solidFill>
                <a:latin typeface="Fira Sans SemiBold" pitchFamily="34" charset="0"/>
                <a:ea typeface="Fira Sans SemiBold" pitchFamily="34" charset="-122"/>
                <a:cs typeface="Fira Sans SemiBold" pitchFamily="34" charset="-120"/>
              </a:rPr>
              <a:t>A proper workflow turns termination into a message</a:t>
            </a:r>
            <a:endParaRPr lang="en-US" sz="2800" dirty="0"/>
          </a:p>
        </p:txBody>
      </p:sp>
      <p:sp>
        <p:nvSpPr>
          <p:cNvPr id="4" name="Text 2"/>
          <p:cNvSpPr/>
          <p:nvPr/>
        </p:nvSpPr>
        <p:spPr>
          <a:xfrm>
            <a:off x="457189" y="1857276"/>
            <a:ext cx="11734506" cy="302220"/>
          </a:xfrm>
          <a:prstGeom prst="rect">
            <a:avLst/>
          </a:prstGeom>
          <a:noFill/>
          <a:ln/>
        </p:spPr>
        <p:txBody>
          <a:bodyPr wrap="none" lIns="0" tIns="0" rIns="0" bIns="0" rtlCol="0" anchor="t"/>
          <a:lstStyle/>
          <a:p>
            <a:pPr algn="l" indent="0" marL="0">
              <a:lnSpc>
                <a:spcPct val="117000"/>
              </a:lnSpc>
              <a:buNone/>
            </a:pPr>
            <a:r>
              <a:rPr lang="en-US" sz="1700" dirty="0">
                <a:solidFill>
                  <a:srgbClr val="1F2937"/>
                </a:solidFill>
                <a:latin typeface="Fira Sans" pitchFamily="34" charset="0"/>
                <a:ea typeface="Fira Sans" pitchFamily="34" charset="-122"/>
                <a:cs typeface="Fira Sans" pitchFamily="34" charset="-120"/>
              </a:rPr>
              <a:t>The status travels from child completion to parent-side handling.</a:t>
            </a:r>
            <a:endParaRPr lang="en-US" sz="1700" dirty="0"/>
          </a:p>
        </p:txBody>
      </p:sp>
      <p:sp>
        <p:nvSpPr>
          <p:cNvPr id="5" name="Text 3"/>
          <p:cNvSpPr/>
          <p:nvPr/>
        </p:nvSpPr>
        <p:spPr>
          <a:xfrm>
            <a:off x="457189" y="2540496"/>
            <a:ext cx="851474" cy="215900"/>
          </a:xfrm>
          <a:prstGeom prst="rect">
            <a:avLst/>
          </a:prstGeom>
          <a:noFill/>
          <a:ln/>
        </p:spPr>
        <p:txBody>
          <a:bodyPr wrap="none" lIns="0" tIns="0" rIns="0" bIns="0" rtlCol="0" anchor="t"/>
          <a:lstStyle/>
          <a:p>
            <a:pPr algn="l" indent="0" marL="0">
              <a:lnSpc>
                <a:spcPct val="83000"/>
              </a:lnSpc>
              <a:buNone/>
            </a:pPr>
            <a:r>
              <a:rPr lang="en-US" sz="1700" dirty="0">
                <a:solidFill>
                  <a:srgbClr val="F26B1D"/>
                </a:solidFill>
                <a:latin typeface="Fira Sans SemiBold" pitchFamily="34" charset="0"/>
                <a:ea typeface="Fira Sans SemiBold" pitchFamily="34" charset="-122"/>
                <a:cs typeface="Fira Sans SemiBold" pitchFamily="34" charset="-120"/>
              </a:rPr>
              <a:t>01</a:t>
            </a:r>
            <a:endParaRPr lang="en-US" sz="1700" dirty="0"/>
          </a:p>
        </p:txBody>
      </p:sp>
      <p:sp>
        <p:nvSpPr>
          <p:cNvPr id="6" name="Shape 4"/>
          <p:cNvSpPr/>
          <p:nvPr/>
        </p:nvSpPr>
        <p:spPr>
          <a:xfrm>
            <a:off x="457189" y="2842716"/>
            <a:ext cx="2011610" cy="19050"/>
          </a:xfrm>
          <a:prstGeom prst="rect">
            <a:avLst/>
          </a:prstGeom>
          <a:solidFill>
            <a:srgbClr val="F26B1D"/>
          </a:solidFill>
          <a:ln/>
        </p:spPr>
      </p:sp>
      <p:sp>
        <p:nvSpPr>
          <p:cNvPr id="7" name="Text 5"/>
          <p:cNvSpPr/>
          <p:nvPr/>
        </p:nvSpPr>
        <p:spPr>
          <a:xfrm>
            <a:off x="457189" y="2991247"/>
            <a:ext cx="2011610" cy="321866"/>
          </a:xfrm>
          <a:prstGeom prst="rect">
            <a:avLst/>
          </a:prstGeom>
          <a:noFill/>
          <a:ln/>
        </p:spPr>
        <p:txBody>
          <a:bodyPr wrap="none" lIns="0" tIns="0" rIns="0" bIns="0" rtlCol="0" anchor="t"/>
          <a:lstStyle/>
          <a:p>
            <a:pPr algn="l" indent="0" marL="0">
              <a:lnSpc>
                <a:spcPct val="108000"/>
              </a:lnSpc>
              <a:buNone/>
            </a:pPr>
            <a:r>
              <a:rPr lang="en-US" sz="1950" dirty="0">
                <a:solidFill>
                  <a:srgbClr val="1F2937"/>
                </a:solidFill>
                <a:latin typeface="Fira Sans" pitchFamily="34" charset="0"/>
                <a:ea typeface="Fira Sans" pitchFamily="34" charset="-122"/>
                <a:cs typeface="Fira Sans" pitchFamily="34" charset="-120"/>
              </a:rPr>
              <a:t>Process execution</a:t>
            </a:r>
            <a:endParaRPr lang="en-US" sz="1950" dirty="0"/>
          </a:p>
        </p:txBody>
      </p:sp>
      <p:sp>
        <p:nvSpPr>
          <p:cNvPr id="8" name="Text 6"/>
          <p:cNvSpPr/>
          <p:nvPr/>
        </p:nvSpPr>
        <p:spPr>
          <a:xfrm>
            <a:off x="457189" y="3497263"/>
            <a:ext cx="2011610" cy="90666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F2937"/>
                </a:solidFill>
                <a:latin typeface="Fira Sans" pitchFamily="34" charset="0"/>
                <a:ea typeface="Fira Sans" pitchFamily="34" charset="-122"/>
                <a:cs typeface="Fira Sans" pitchFamily="34" charset="-120"/>
              </a:rPr>
              <a:t>Run the assigned task while tracking </a:t>
            </a:r>
            <a:pPr algn="l" indent="0" marL="0">
              <a:lnSpc>
                <a:spcPct val="117000"/>
              </a:lnSpc>
              <a:buNone/>
            </a:pPr>
            <a:r>
              <a:rPr lang="en-US" sz="1700" dirty="0">
                <a:solidFill>
                  <a:srgbClr val="1F2937"/>
                </a:solidFill>
                <a:highlight>
                  <a:srgbClr val="F3F5F8"/>
                </a:highlight>
                <a:latin typeface="Consolas" pitchFamily="34" charset="0"/>
                <a:ea typeface="Consolas" pitchFamily="34" charset="-122"/>
                <a:cs typeface="Consolas" pitchFamily="34" charset="-120"/>
              </a:rPr>
              <a:t>PID</a:t>
            </a:r>
            <a:pPr algn="l" indent="0" marL="0">
              <a:lnSpc>
                <a:spcPct val="117000"/>
              </a:lnSpc>
              <a:buNone/>
            </a:pPr>
            <a:r>
              <a:rPr lang="en-US" sz="1700" dirty="0">
                <a:solidFill>
                  <a:srgbClr val="1F2937"/>
                </a:solidFill>
                <a:latin typeface="Fira Sans" pitchFamily="34" charset="0"/>
                <a:ea typeface="Fira Sans" pitchFamily="34" charset="-122"/>
                <a:cs typeface="Fira Sans" pitchFamily="34" charset="-120"/>
              </a:rPr>
              <a:t> and </a:t>
            </a:r>
            <a:pPr algn="l" indent="0" marL="0">
              <a:lnSpc>
                <a:spcPct val="117000"/>
              </a:lnSpc>
              <a:buNone/>
            </a:pPr>
            <a:r>
              <a:rPr lang="en-US" sz="1700" dirty="0">
                <a:solidFill>
                  <a:srgbClr val="1F2937"/>
                </a:solidFill>
                <a:highlight>
                  <a:srgbClr val="F3F5F8"/>
                </a:highlight>
                <a:latin typeface="Consolas" pitchFamily="34" charset="0"/>
                <a:ea typeface="Consolas" pitchFamily="34" charset="-122"/>
                <a:cs typeface="Consolas" pitchFamily="34" charset="-120"/>
              </a:rPr>
              <a:t>PPID</a:t>
            </a:r>
            <a:pPr algn="l" indent="0" marL="0">
              <a:lnSpc>
                <a:spcPct val="117000"/>
              </a:lnSpc>
              <a:buNone/>
            </a:pPr>
            <a:r>
              <a:rPr lang="en-US" sz="1700" dirty="0">
                <a:solidFill>
                  <a:srgbClr val="1F2937"/>
                </a:solidFill>
                <a:latin typeface="Fira Sans" pitchFamily="34" charset="0"/>
                <a:ea typeface="Fira Sans" pitchFamily="34" charset="-122"/>
                <a:cs typeface="Fira Sans" pitchFamily="34" charset="-120"/>
              </a:rPr>
              <a:t>.</a:t>
            </a:r>
            <a:endParaRPr lang="en-US" sz="1700" dirty="0"/>
          </a:p>
        </p:txBody>
      </p:sp>
      <p:sp>
        <p:nvSpPr>
          <p:cNvPr id="9" name="Text 7"/>
          <p:cNvSpPr/>
          <p:nvPr/>
        </p:nvSpPr>
        <p:spPr>
          <a:xfrm>
            <a:off x="2773492" y="2540496"/>
            <a:ext cx="851474" cy="215900"/>
          </a:xfrm>
          <a:prstGeom prst="rect">
            <a:avLst/>
          </a:prstGeom>
          <a:noFill/>
          <a:ln/>
        </p:spPr>
        <p:txBody>
          <a:bodyPr wrap="none" lIns="0" tIns="0" rIns="0" bIns="0" rtlCol="0" anchor="t"/>
          <a:lstStyle/>
          <a:p>
            <a:pPr algn="l" indent="0" marL="0">
              <a:lnSpc>
                <a:spcPct val="83000"/>
              </a:lnSpc>
              <a:buNone/>
            </a:pPr>
            <a:r>
              <a:rPr lang="en-US" sz="1700" dirty="0">
                <a:solidFill>
                  <a:srgbClr val="F26B1D"/>
                </a:solidFill>
                <a:latin typeface="Fira Sans SemiBold" pitchFamily="34" charset="0"/>
                <a:ea typeface="Fira Sans SemiBold" pitchFamily="34" charset="-122"/>
                <a:cs typeface="Fira Sans SemiBold" pitchFamily="34" charset="-120"/>
              </a:rPr>
              <a:t>02</a:t>
            </a:r>
            <a:endParaRPr lang="en-US" sz="1700" dirty="0"/>
          </a:p>
        </p:txBody>
      </p:sp>
      <p:sp>
        <p:nvSpPr>
          <p:cNvPr id="10" name="Shape 8"/>
          <p:cNvSpPr/>
          <p:nvPr/>
        </p:nvSpPr>
        <p:spPr>
          <a:xfrm>
            <a:off x="2773492" y="2842716"/>
            <a:ext cx="2011610" cy="19050"/>
          </a:xfrm>
          <a:prstGeom prst="rect">
            <a:avLst/>
          </a:prstGeom>
          <a:solidFill>
            <a:srgbClr val="F26B1D"/>
          </a:solidFill>
          <a:ln/>
        </p:spPr>
      </p:sp>
      <p:sp>
        <p:nvSpPr>
          <p:cNvPr id="11" name="Text 9"/>
          <p:cNvSpPr/>
          <p:nvPr/>
        </p:nvSpPr>
        <p:spPr>
          <a:xfrm>
            <a:off x="2773492" y="2991247"/>
            <a:ext cx="2011709" cy="643731"/>
          </a:xfrm>
          <a:prstGeom prst="rect">
            <a:avLst/>
          </a:prstGeom>
          <a:noFill/>
          <a:ln/>
        </p:spPr>
        <p:txBody>
          <a:bodyPr wrap="square" lIns="0" tIns="0" rIns="0" bIns="0" rtlCol="0" anchor="t">
            <a:normAutofit/>
          </a:bodyPr>
          <a:lstStyle/>
          <a:p>
            <a:pPr algn="l" indent="0" marL="0">
              <a:lnSpc>
                <a:spcPct val="108000"/>
              </a:lnSpc>
              <a:buNone/>
            </a:pPr>
            <a:r>
              <a:rPr lang="en-US" sz="1950" dirty="0">
                <a:solidFill>
                  <a:srgbClr val="1F2937"/>
                </a:solidFill>
                <a:latin typeface="Fira Sans" pitchFamily="34" charset="0"/>
                <a:ea typeface="Fira Sans" pitchFamily="34" charset="-122"/>
                <a:cs typeface="Fira Sans" pitchFamily="34" charset="-120"/>
              </a:rPr>
              <a:t>Process termination</a:t>
            </a:r>
            <a:endParaRPr lang="en-US" sz="1950" dirty="0"/>
          </a:p>
        </p:txBody>
      </p:sp>
      <p:sp>
        <p:nvSpPr>
          <p:cNvPr id="12" name="Text 10"/>
          <p:cNvSpPr/>
          <p:nvPr/>
        </p:nvSpPr>
        <p:spPr>
          <a:xfrm>
            <a:off x="2773492" y="3819128"/>
            <a:ext cx="2011709" cy="90666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F2937"/>
                </a:solidFill>
                <a:latin typeface="Fira Sans" pitchFamily="34" charset="0"/>
                <a:ea typeface="Fira Sans" pitchFamily="34" charset="-122"/>
                <a:cs typeface="Fira Sans" pitchFamily="34" charset="-120"/>
              </a:rPr>
              <a:t>Finish normally, fail, receive a signal, or stop by user action.</a:t>
            </a:r>
            <a:endParaRPr lang="en-US" sz="1700" dirty="0"/>
          </a:p>
        </p:txBody>
      </p:sp>
      <p:sp>
        <p:nvSpPr>
          <p:cNvPr id="13" name="Shape 11"/>
          <p:cNvSpPr/>
          <p:nvPr/>
        </p:nvSpPr>
        <p:spPr>
          <a:xfrm>
            <a:off x="5089894" y="2311896"/>
            <a:ext cx="2011808" cy="2944713"/>
          </a:xfrm>
          <a:prstGeom prst="rect">
            <a:avLst/>
          </a:prstGeom>
          <a:solidFill>
            <a:srgbClr val="2B3544"/>
          </a:solidFill>
          <a:ln/>
        </p:spPr>
      </p:sp>
      <p:sp>
        <p:nvSpPr>
          <p:cNvPr id="14" name="Text 12"/>
          <p:cNvSpPr/>
          <p:nvPr/>
        </p:nvSpPr>
        <p:spPr>
          <a:xfrm>
            <a:off x="5318488" y="2540496"/>
            <a:ext cx="851474" cy="215900"/>
          </a:xfrm>
          <a:prstGeom prst="rect">
            <a:avLst/>
          </a:prstGeom>
          <a:noFill/>
          <a:ln/>
        </p:spPr>
        <p:txBody>
          <a:bodyPr wrap="none" lIns="0" tIns="0" rIns="0" bIns="0" rtlCol="0" anchor="t"/>
          <a:lstStyle/>
          <a:p>
            <a:pPr algn="l" indent="0" marL="0">
              <a:lnSpc>
                <a:spcPct val="83000"/>
              </a:lnSpc>
              <a:buNone/>
            </a:pPr>
            <a:r>
              <a:rPr lang="en-US" sz="1700" dirty="0">
                <a:solidFill>
                  <a:srgbClr val="FFFFFF"/>
                </a:solidFill>
                <a:latin typeface="Fira Sans SemiBold" pitchFamily="34" charset="0"/>
                <a:ea typeface="Fira Sans SemiBold" pitchFamily="34" charset="-122"/>
                <a:cs typeface="Fira Sans SemiBold" pitchFamily="34" charset="-120"/>
              </a:rPr>
              <a:t>03</a:t>
            </a:r>
            <a:endParaRPr lang="en-US" sz="1700" dirty="0"/>
          </a:p>
        </p:txBody>
      </p:sp>
      <p:sp>
        <p:nvSpPr>
          <p:cNvPr id="15" name="Shape 13"/>
          <p:cNvSpPr/>
          <p:nvPr/>
        </p:nvSpPr>
        <p:spPr>
          <a:xfrm>
            <a:off x="5318488" y="2842716"/>
            <a:ext cx="1554620" cy="19050"/>
          </a:xfrm>
          <a:prstGeom prst="rect">
            <a:avLst/>
          </a:prstGeom>
          <a:solidFill>
            <a:srgbClr val="F26B1D"/>
          </a:solidFill>
          <a:ln/>
        </p:spPr>
      </p:sp>
      <p:sp>
        <p:nvSpPr>
          <p:cNvPr id="16" name="Text 14"/>
          <p:cNvSpPr/>
          <p:nvPr/>
        </p:nvSpPr>
        <p:spPr>
          <a:xfrm>
            <a:off x="5318488" y="2991247"/>
            <a:ext cx="1554620" cy="643731"/>
          </a:xfrm>
          <a:prstGeom prst="rect">
            <a:avLst/>
          </a:prstGeom>
          <a:noFill/>
          <a:ln/>
        </p:spPr>
        <p:txBody>
          <a:bodyPr wrap="square" lIns="0" tIns="0" rIns="0" bIns="0" rtlCol="0" anchor="t">
            <a:normAutofit/>
          </a:bodyPr>
          <a:lstStyle/>
          <a:p>
            <a:pPr algn="l" indent="0" marL="0">
              <a:lnSpc>
                <a:spcPct val="108000"/>
              </a:lnSpc>
              <a:buNone/>
            </a:pPr>
            <a:r>
              <a:rPr lang="en-US" sz="1950" dirty="0">
                <a:solidFill>
                  <a:srgbClr val="E5EAF2"/>
                </a:solidFill>
                <a:latin typeface="Fira Sans" pitchFamily="34" charset="0"/>
                <a:ea typeface="Fira Sans" pitchFamily="34" charset="-122"/>
                <a:cs typeface="Fira Sans" pitchFamily="34" charset="-120"/>
              </a:rPr>
              <a:t>Status generated</a:t>
            </a:r>
            <a:endParaRPr lang="en-US" sz="1950" dirty="0"/>
          </a:p>
        </p:txBody>
      </p:sp>
      <p:sp>
        <p:nvSpPr>
          <p:cNvPr id="17" name="Text 15"/>
          <p:cNvSpPr/>
          <p:nvPr/>
        </p:nvSpPr>
        <p:spPr>
          <a:xfrm>
            <a:off x="5318488" y="3819128"/>
            <a:ext cx="1554620" cy="120888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E5EAF2"/>
                </a:solidFill>
                <a:latin typeface="Fira Sans" pitchFamily="34" charset="0"/>
                <a:ea typeface="Fira Sans" pitchFamily="34" charset="-122"/>
                <a:cs typeface="Fira Sans" pitchFamily="34" charset="-120"/>
              </a:rPr>
              <a:t>Encode normal exit or signal-based termination.</a:t>
            </a:r>
            <a:endParaRPr lang="en-US" sz="1700" dirty="0"/>
          </a:p>
        </p:txBody>
      </p:sp>
      <p:sp>
        <p:nvSpPr>
          <p:cNvPr id="18" name="Text 16"/>
          <p:cNvSpPr/>
          <p:nvPr/>
        </p:nvSpPr>
        <p:spPr>
          <a:xfrm>
            <a:off x="7406395" y="2540496"/>
            <a:ext cx="851474" cy="215900"/>
          </a:xfrm>
          <a:prstGeom prst="rect">
            <a:avLst/>
          </a:prstGeom>
          <a:noFill/>
          <a:ln/>
        </p:spPr>
        <p:txBody>
          <a:bodyPr wrap="none" lIns="0" tIns="0" rIns="0" bIns="0" rtlCol="0" anchor="t"/>
          <a:lstStyle/>
          <a:p>
            <a:pPr algn="l" indent="0" marL="0">
              <a:lnSpc>
                <a:spcPct val="83000"/>
              </a:lnSpc>
              <a:buNone/>
            </a:pPr>
            <a:r>
              <a:rPr lang="en-US" sz="1700" dirty="0">
                <a:solidFill>
                  <a:srgbClr val="F26B1D"/>
                </a:solidFill>
                <a:latin typeface="Fira Sans SemiBold" pitchFamily="34" charset="0"/>
                <a:ea typeface="Fira Sans SemiBold" pitchFamily="34" charset="-122"/>
                <a:cs typeface="Fira Sans SemiBold" pitchFamily="34" charset="-120"/>
              </a:rPr>
              <a:t>04</a:t>
            </a:r>
            <a:endParaRPr lang="en-US" sz="1700" dirty="0"/>
          </a:p>
        </p:txBody>
      </p:sp>
      <p:sp>
        <p:nvSpPr>
          <p:cNvPr id="19" name="Shape 17"/>
          <p:cNvSpPr/>
          <p:nvPr/>
        </p:nvSpPr>
        <p:spPr>
          <a:xfrm>
            <a:off x="7406395" y="2842716"/>
            <a:ext cx="2011610" cy="19050"/>
          </a:xfrm>
          <a:prstGeom prst="rect">
            <a:avLst/>
          </a:prstGeom>
          <a:solidFill>
            <a:srgbClr val="F26B1D"/>
          </a:solidFill>
          <a:ln/>
        </p:spPr>
      </p:sp>
      <p:sp>
        <p:nvSpPr>
          <p:cNvPr id="20" name="Text 18"/>
          <p:cNvSpPr/>
          <p:nvPr/>
        </p:nvSpPr>
        <p:spPr>
          <a:xfrm>
            <a:off x="7406395" y="2991247"/>
            <a:ext cx="2011709" cy="643731"/>
          </a:xfrm>
          <a:prstGeom prst="rect">
            <a:avLst/>
          </a:prstGeom>
          <a:noFill/>
          <a:ln/>
        </p:spPr>
        <p:txBody>
          <a:bodyPr wrap="square" lIns="0" tIns="0" rIns="0" bIns="0" rtlCol="0" anchor="t">
            <a:normAutofit/>
          </a:bodyPr>
          <a:lstStyle/>
          <a:p>
            <a:pPr algn="l" indent="0" marL="0">
              <a:lnSpc>
                <a:spcPct val="108000"/>
              </a:lnSpc>
              <a:buNone/>
            </a:pPr>
            <a:r>
              <a:rPr lang="en-US" sz="1950" dirty="0">
                <a:solidFill>
                  <a:srgbClr val="1F2937"/>
                </a:solidFill>
                <a:latin typeface="Fira Sans" pitchFamily="34" charset="0"/>
                <a:ea typeface="Fira Sans" pitchFamily="34" charset="-122"/>
                <a:cs typeface="Fira Sans" pitchFamily="34" charset="-120"/>
              </a:rPr>
              <a:t>Parent receives status</a:t>
            </a:r>
            <a:endParaRPr lang="en-US" sz="1950" dirty="0"/>
          </a:p>
        </p:txBody>
      </p:sp>
      <p:sp>
        <p:nvSpPr>
          <p:cNvPr id="21" name="Text 19"/>
          <p:cNvSpPr/>
          <p:nvPr/>
        </p:nvSpPr>
        <p:spPr>
          <a:xfrm>
            <a:off x="7406395" y="3819128"/>
            <a:ext cx="2011709" cy="90666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F2937"/>
                </a:solidFill>
                <a:latin typeface="Fira Sans" pitchFamily="34" charset="0"/>
                <a:ea typeface="Fira Sans" pitchFamily="34" charset="-122"/>
                <a:cs typeface="Fira Sans" pitchFamily="34" charset="-120"/>
              </a:rPr>
              <a:t>Use </a:t>
            </a:r>
            <a:pPr algn="l" indent="0" marL="0">
              <a:lnSpc>
                <a:spcPct val="117000"/>
              </a:lnSpc>
              <a:buNone/>
            </a:pPr>
            <a:r>
              <a:rPr lang="en-US" sz="1700" dirty="0">
                <a:solidFill>
                  <a:srgbClr val="1F2937"/>
                </a:solidFill>
                <a:highlight>
                  <a:srgbClr val="F3F5F8"/>
                </a:highlight>
                <a:latin typeface="Consolas" pitchFamily="34" charset="0"/>
                <a:ea typeface="Consolas" pitchFamily="34" charset="-122"/>
                <a:cs typeface="Consolas" pitchFamily="34" charset="-120"/>
              </a:rPr>
              <a:t>wait()</a:t>
            </a:r>
            <a:pPr algn="l" indent="0" marL="0">
              <a:lnSpc>
                <a:spcPct val="117000"/>
              </a:lnSpc>
              <a:buNone/>
            </a:pPr>
            <a:r>
              <a:rPr lang="en-US" sz="1700" dirty="0">
                <a:solidFill>
                  <a:srgbClr val="1F2937"/>
                </a:solidFill>
                <a:latin typeface="Fira Sans" pitchFamily="34" charset="0"/>
                <a:ea typeface="Fira Sans" pitchFamily="34" charset="-122"/>
                <a:cs typeface="Fira Sans" pitchFamily="34" charset="-120"/>
              </a:rPr>
              <a:t> or </a:t>
            </a:r>
            <a:pPr algn="l" indent="0" marL="0">
              <a:lnSpc>
                <a:spcPct val="117000"/>
              </a:lnSpc>
              <a:buNone/>
            </a:pPr>
            <a:r>
              <a:rPr lang="en-US" sz="1700" dirty="0">
                <a:solidFill>
                  <a:srgbClr val="1F2937"/>
                </a:solidFill>
                <a:highlight>
                  <a:srgbClr val="F3F5F8"/>
                </a:highlight>
                <a:latin typeface="Consolas" pitchFamily="34" charset="0"/>
                <a:ea typeface="Consolas" pitchFamily="34" charset="-122"/>
                <a:cs typeface="Consolas" pitchFamily="34" charset="-120"/>
              </a:rPr>
              <a:t>waitpid()</a:t>
            </a:r>
            <a:pPr algn="l" indent="0" marL="0">
              <a:lnSpc>
                <a:spcPct val="117000"/>
              </a:lnSpc>
              <a:buNone/>
            </a:pPr>
            <a:r>
              <a:rPr lang="en-US" sz="1700" dirty="0">
                <a:solidFill>
                  <a:srgbClr val="1F2937"/>
                </a:solidFill>
                <a:latin typeface="Fira Sans" pitchFamily="34" charset="0"/>
                <a:ea typeface="Fira Sans" pitchFamily="34" charset="-122"/>
                <a:cs typeface="Fira Sans" pitchFamily="34" charset="-120"/>
              </a:rPr>
              <a:t> to collect the result.</a:t>
            </a:r>
            <a:endParaRPr lang="en-US" sz="1700" dirty="0"/>
          </a:p>
        </p:txBody>
      </p:sp>
      <p:sp>
        <p:nvSpPr>
          <p:cNvPr id="22" name="Text 20"/>
          <p:cNvSpPr/>
          <p:nvPr/>
        </p:nvSpPr>
        <p:spPr>
          <a:xfrm>
            <a:off x="9722797" y="2540496"/>
            <a:ext cx="851474" cy="215900"/>
          </a:xfrm>
          <a:prstGeom prst="rect">
            <a:avLst/>
          </a:prstGeom>
          <a:noFill/>
          <a:ln/>
        </p:spPr>
        <p:txBody>
          <a:bodyPr wrap="none" lIns="0" tIns="0" rIns="0" bIns="0" rtlCol="0" anchor="t"/>
          <a:lstStyle/>
          <a:p>
            <a:pPr algn="l" indent="0" marL="0">
              <a:lnSpc>
                <a:spcPct val="83000"/>
              </a:lnSpc>
              <a:buNone/>
            </a:pPr>
            <a:r>
              <a:rPr lang="en-US" sz="1700" dirty="0">
                <a:solidFill>
                  <a:srgbClr val="F26B1D"/>
                </a:solidFill>
                <a:latin typeface="Fira Sans SemiBold" pitchFamily="34" charset="0"/>
                <a:ea typeface="Fira Sans SemiBold" pitchFamily="34" charset="-122"/>
                <a:cs typeface="Fira Sans SemiBold" pitchFamily="34" charset="-120"/>
              </a:rPr>
              <a:t>05</a:t>
            </a:r>
            <a:endParaRPr lang="en-US" sz="1700" dirty="0"/>
          </a:p>
        </p:txBody>
      </p:sp>
      <p:sp>
        <p:nvSpPr>
          <p:cNvPr id="23" name="Shape 21"/>
          <p:cNvSpPr/>
          <p:nvPr/>
        </p:nvSpPr>
        <p:spPr>
          <a:xfrm>
            <a:off x="9722797" y="2842716"/>
            <a:ext cx="2011610" cy="19050"/>
          </a:xfrm>
          <a:prstGeom prst="rect">
            <a:avLst/>
          </a:prstGeom>
          <a:solidFill>
            <a:srgbClr val="F26B1D"/>
          </a:solidFill>
          <a:ln/>
        </p:spPr>
      </p:sp>
      <p:sp>
        <p:nvSpPr>
          <p:cNvPr id="24" name="Text 22"/>
          <p:cNvSpPr/>
          <p:nvPr/>
        </p:nvSpPr>
        <p:spPr>
          <a:xfrm>
            <a:off x="9722797" y="2991247"/>
            <a:ext cx="2011709" cy="321866"/>
          </a:xfrm>
          <a:prstGeom prst="rect">
            <a:avLst/>
          </a:prstGeom>
          <a:noFill/>
          <a:ln/>
        </p:spPr>
        <p:txBody>
          <a:bodyPr wrap="none" lIns="0" tIns="0" rIns="0" bIns="0" rtlCol="0" anchor="t"/>
          <a:lstStyle/>
          <a:p>
            <a:pPr algn="l" indent="0" marL="0">
              <a:lnSpc>
                <a:spcPct val="108000"/>
              </a:lnSpc>
              <a:buNone/>
            </a:pPr>
            <a:r>
              <a:rPr lang="en-US" sz="1950" dirty="0">
                <a:solidFill>
                  <a:srgbClr val="1F2937"/>
                </a:solidFill>
                <a:latin typeface="Fira Sans" pitchFamily="34" charset="0"/>
                <a:ea typeface="Fira Sans" pitchFamily="34" charset="-122"/>
                <a:cs typeface="Fira Sans" pitchFamily="34" charset="-120"/>
              </a:rPr>
              <a:t>OS cleanup</a:t>
            </a:r>
            <a:endParaRPr lang="en-US" sz="1950" dirty="0"/>
          </a:p>
        </p:txBody>
      </p:sp>
      <p:sp>
        <p:nvSpPr>
          <p:cNvPr id="25" name="Text 23"/>
          <p:cNvSpPr/>
          <p:nvPr/>
        </p:nvSpPr>
        <p:spPr>
          <a:xfrm>
            <a:off x="9722797" y="3497263"/>
            <a:ext cx="2011709" cy="90666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F2937"/>
                </a:solidFill>
                <a:latin typeface="Fira Sans" pitchFamily="34" charset="0"/>
                <a:ea typeface="Fira Sans" pitchFamily="34" charset="-122"/>
                <a:cs typeface="Fira Sans" pitchFamily="34" charset="-120"/>
              </a:rPr>
              <a:t>Close the lifecycle and release resources.</a:t>
            </a:r>
            <a:endParaRPr lang="en-US" sz="1700" dirty="0"/>
          </a:p>
        </p:txBody>
      </p:sp>
      <p:sp>
        <p:nvSpPr>
          <p:cNvPr id="26" name="Text 24"/>
          <p:cNvSpPr/>
          <p:nvPr/>
        </p:nvSpPr>
        <p:spPr>
          <a:xfrm>
            <a:off x="457189" y="5459809"/>
            <a:ext cx="4267093" cy="302220"/>
          </a:xfrm>
          <a:prstGeom prst="rect">
            <a:avLst/>
          </a:prstGeom>
          <a:noFill/>
          <a:ln/>
        </p:spPr>
        <p:txBody>
          <a:bodyPr wrap="none" lIns="0" tIns="0" rIns="0" bIns="0" rtlCol="0" anchor="t"/>
          <a:lstStyle/>
          <a:p>
            <a:pPr algn="l" indent="0" marL="0">
              <a:lnSpc>
                <a:spcPct val="117000"/>
              </a:lnSpc>
              <a:buNone/>
            </a:pPr>
            <a:r>
              <a:rPr lang="en-US" sz="1700" spc="34" kern="0" dirty="0">
                <a:solidFill>
                  <a:srgbClr val="1F2937"/>
                </a:solidFill>
                <a:latin typeface="Fira Mono" pitchFamily="34" charset="0"/>
                <a:ea typeface="Fira Mono" pitchFamily="34" charset="-122"/>
                <a:cs typeface="Fira Mono" pitchFamily="34" charset="-120"/>
              </a:rPr>
              <a:t>HANDOFF</a:t>
            </a:r>
            <a:endParaRPr lang="en-US" sz="1700" dirty="0"/>
          </a:p>
        </p:txBody>
      </p:sp>
      <p:sp>
        <p:nvSpPr>
          <p:cNvPr id="27" name="Text 25"/>
          <p:cNvSpPr/>
          <p:nvPr/>
        </p:nvSpPr>
        <p:spPr>
          <a:xfrm>
            <a:off x="457189" y="5911255"/>
            <a:ext cx="4267093" cy="302220"/>
          </a:xfrm>
          <a:prstGeom prst="rect">
            <a:avLst/>
          </a:prstGeom>
          <a:noFill/>
          <a:ln/>
        </p:spPr>
        <p:txBody>
          <a:bodyPr wrap="none" lIns="0" tIns="0" rIns="0" bIns="0" rtlCol="0" anchor="t"/>
          <a:lstStyle/>
          <a:p>
            <a:pPr algn="l" indent="0" marL="0">
              <a:lnSpc>
                <a:spcPct val="117000"/>
              </a:lnSpc>
              <a:buNone/>
            </a:pPr>
            <a:r>
              <a:rPr lang="en-US" sz="1700" dirty="0">
                <a:solidFill>
                  <a:srgbClr val="B94A0A"/>
                </a:solidFill>
                <a:latin typeface="Fira Sans" pitchFamily="34" charset="0"/>
                <a:ea typeface="Fira Sans" pitchFamily="34" charset="-122"/>
                <a:cs typeface="Fira Sans" pitchFamily="34" charset="-120"/>
              </a:rPr>
              <a:t>child → status message → parent</a:t>
            </a:r>
            <a:endParaRPr lang="en-US" sz="1700" dirty="0"/>
          </a:p>
        </p:txBody>
      </p:sp>
      <p:sp>
        <p:nvSpPr>
          <p:cNvPr id="28" name="Text 26"/>
          <p:cNvSpPr/>
          <p:nvPr/>
        </p:nvSpPr>
        <p:spPr>
          <a:xfrm>
            <a:off x="4419489" y="5459809"/>
            <a:ext cx="7772206" cy="302220"/>
          </a:xfrm>
          <a:prstGeom prst="rect">
            <a:avLst/>
          </a:prstGeom>
          <a:noFill/>
          <a:ln/>
        </p:spPr>
        <p:txBody>
          <a:bodyPr wrap="none" lIns="0" tIns="0" rIns="0" bIns="0" rtlCol="0" anchor="t"/>
          <a:lstStyle/>
          <a:p>
            <a:pPr algn="l" indent="0" marL="0">
              <a:lnSpc>
                <a:spcPct val="117000"/>
              </a:lnSpc>
              <a:buNone/>
            </a:pPr>
            <a:r>
              <a:rPr lang="en-US" sz="1700" b="1" dirty="0">
                <a:solidFill>
                  <a:srgbClr val="1F2937"/>
                </a:solidFill>
                <a:latin typeface="Fira Sans Bold" pitchFamily="34" charset="0"/>
                <a:ea typeface="Fira Sans Bold" pitchFamily="34" charset="-122"/>
                <a:cs typeface="Fira Sans Bold" pitchFamily="34" charset="-120"/>
              </a:rPr>
              <a:t>This improves synchronization, monitoring, and resource utilization.</a:t>
            </a:r>
            <a:endParaRPr lang="en-US" sz="1700" dirty="0"/>
          </a:p>
        </p:txBody>
      </p:sp>
      <p:sp>
        <p:nvSpPr>
          <p:cNvPr id="29" name="Text 27"/>
          <p:cNvSpPr/>
          <p:nvPr/>
        </p:nvSpPr>
        <p:spPr>
          <a:xfrm>
            <a:off x="11656225" y="6531570"/>
            <a:ext cx="535470" cy="195560"/>
          </a:xfrm>
          <a:prstGeom prst="rect">
            <a:avLst/>
          </a:prstGeom>
          <a:noFill/>
          <a:ln/>
        </p:spPr>
        <p:txBody>
          <a:bodyPr wrap="none" lIns="0" tIns="0" rIns="0" bIns="0" rtlCol="0" anchor="ctr"/>
          <a:lstStyle/>
          <a:p>
            <a:pPr algn="l" indent="0" marL="0">
              <a:lnSpc>
                <a:spcPct val="117000"/>
              </a:lnSpc>
              <a:buNone/>
            </a:pPr>
            <a:r>
              <a:rPr lang="en-US" sz="1100" dirty="0">
                <a:solidFill>
                  <a:srgbClr val="1F2937"/>
                </a:solidFill>
                <a:latin typeface="Fira Sans" pitchFamily="34" charset="0"/>
                <a:ea typeface="Fira Sans" pitchFamily="34" charset="-122"/>
                <a:cs typeface="Fira Sans"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189" y="457200"/>
            <a:ext cx="5791055" cy="269478"/>
          </a:xfrm>
          <a:prstGeom prst="rect">
            <a:avLst/>
          </a:prstGeom>
          <a:noFill/>
          <a:ln/>
        </p:spPr>
        <p:txBody>
          <a:bodyPr wrap="none" lIns="0" tIns="0" rIns="0" bIns="0" rtlCol="0" anchor="t"/>
          <a:lstStyle/>
          <a:p>
            <a:pPr algn="l" indent="0" marL="0">
              <a:lnSpc>
                <a:spcPct val="112000"/>
              </a:lnSpc>
              <a:buNone/>
            </a:pPr>
            <a:r>
              <a:rPr lang="en-US" sz="1550" spc="31" kern="0" dirty="0">
                <a:solidFill>
                  <a:srgbClr val="1F2937"/>
                </a:solidFill>
                <a:latin typeface="Fira Mono" pitchFamily="34" charset="0"/>
                <a:ea typeface="Fira Mono" pitchFamily="34" charset="-122"/>
                <a:cs typeface="Fira Mono" pitchFamily="34" charset="-120"/>
              </a:rPr>
              <a:t>THE API HANDOFF</a:t>
            </a:r>
            <a:endParaRPr lang="en-US" sz="1550" dirty="0"/>
          </a:p>
        </p:txBody>
      </p:sp>
      <p:sp>
        <p:nvSpPr>
          <p:cNvPr id="3" name="Text 1"/>
          <p:cNvSpPr/>
          <p:nvPr/>
        </p:nvSpPr>
        <p:spPr>
          <a:xfrm>
            <a:off x="457189" y="1099542"/>
            <a:ext cx="5181470" cy="757039"/>
          </a:xfrm>
          <a:prstGeom prst="rect">
            <a:avLst/>
          </a:prstGeom>
          <a:noFill/>
          <a:ln/>
        </p:spPr>
        <p:txBody>
          <a:bodyPr wrap="square" lIns="0" tIns="0" rIns="0" bIns="0" rtlCol="0" anchor="t">
            <a:normAutofit/>
          </a:bodyPr>
          <a:lstStyle/>
          <a:p>
            <a:pPr algn="l" indent="0" marL="0">
              <a:lnSpc>
                <a:spcPct val="96000"/>
              </a:lnSpc>
              <a:buNone/>
            </a:pPr>
            <a:r>
              <a:rPr lang="en-US" sz="2600" spc="-26" kern="0" dirty="0">
                <a:solidFill>
                  <a:srgbClr val="1F2937"/>
                </a:solidFill>
                <a:latin typeface="Fira Sans SemiBold" pitchFamily="34" charset="0"/>
                <a:ea typeface="Fira Sans SemiBold" pitchFamily="34" charset="-122"/>
                <a:cs typeface="Fira Sans SemiBold" pitchFamily="34" charset="-120"/>
              </a:rPr>
              <a:t>Four APIs make the handoff explicit</a:t>
            </a:r>
            <a:endParaRPr lang="en-US" sz="2600" dirty="0"/>
          </a:p>
        </p:txBody>
      </p:sp>
      <p:sp>
        <p:nvSpPr>
          <p:cNvPr id="4" name="Text 2"/>
          <p:cNvSpPr/>
          <p:nvPr/>
        </p:nvSpPr>
        <p:spPr>
          <a:xfrm>
            <a:off x="457189" y="2074267"/>
            <a:ext cx="5181470" cy="538956"/>
          </a:xfrm>
          <a:prstGeom prst="rect">
            <a:avLst/>
          </a:prstGeom>
          <a:noFill/>
          <a:ln/>
        </p:spPr>
        <p:txBody>
          <a:bodyPr wrap="square" lIns="0" tIns="0" rIns="0" bIns="0" rtlCol="0" anchor="t">
            <a:normAutofit/>
          </a:bodyPr>
          <a:lstStyle/>
          <a:p>
            <a:pPr algn="l" indent="0" marL="0">
              <a:lnSpc>
                <a:spcPct val="112000"/>
              </a:lnSpc>
              <a:buNone/>
            </a:pPr>
            <a:r>
              <a:rPr lang="en-US" sz="1550" dirty="0">
                <a:solidFill>
                  <a:srgbClr val="1F2937"/>
                </a:solidFill>
                <a:latin typeface="Fira Sans" pitchFamily="34" charset="0"/>
                <a:ea typeface="Fira Sans" pitchFamily="34" charset="-122"/>
                <a:cs typeface="Fira Sans" pitchFamily="34" charset="-120"/>
              </a:rPr>
              <a:t>Different calls control how a process ends and how its parent learns why.</a:t>
            </a:r>
            <a:endParaRPr lang="en-US" sz="1550" dirty="0"/>
          </a:p>
        </p:txBody>
      </p:sp>
      <p:sp>
        <p:nvSpPr>
          <p:cNvPr id="5" name="Text 3"/>
          <p:cNvSpPr/>
          <p:nvPr/>
        </p:nvSpPr>
        <p:spPr>
          <a:xfrm>
            <a:off x="457189" y="2910780"/>
            <a:ext cx="2463738" cy="298053"/>
          </a:xfrm>
          <a:prstGeom prst="rect">
            <a:avLst/>
          </a:prstGeom>
          <a:noFill/>
          <a:ln/>
        </p:spPr>
        <p:txBody>
          <a:bodyPr wrap="none" lIns="0" tIns="0" rIns="0" bIns="0" rtlCol="0" anchor="t"/>
          <a:lstStyle/>
          <a:p>
            <a:pPr algn="l" indent="0" marL="0">
              <a:lnSpc>
                <a:spcPct val="108000"/>
              </a:lnSpc>
              <a:buNone/>
            </a:pPr>
            <a:r>
              <a:rPr lang="en-US" sz="1800" dirty="0">
                <a:solidFill>
                  <a:srgbClr val="1F2937"/>
                </a:solidFill>
                <a:highlight>
                  <a:srgbClr val="F3F5F8"/>
                </a:highlight>
                <a:latin typeface="Consolas" pitchFamily="34" charset="0"/>
                <a:ea typeface="Consolas" pitchFamily="34" charset="-122"/>
                <a:cs typeface="Consolas" pitchFamily="34" charset="-120"/>
              </a:rPr>
              <a:t>exit()</a:t>
            </a:r>
            <a:endParaRPr lang="en-US" sz="1800" dirty="0"/>
          </a:p>
        </p:txBody>
      </p:sp>
      <p:sp>
        <p:nvSpPr>
          <p:cNvPr id="6" name="Text 4"/>
          <p:cNvSpPr/>
          <p:nvPr/>
        </p:nvSpPr>
        <p:spPr>
          <a:xfrm>
            <a:off x="457189" y="3366691"/>
            <a:ext cx="2463738" cy="1077913"/>
          </a:xfrm>
          <a:prstGeom prst="rect">
            <a:avLst/>
          </a:prstGeom>
          <a:noFill/>
          <a:ln/>
        </p:spPr>
        <p:txBody>
          <a:bodyPr wrap="square" lIns="0" tIns="0" rIns="0" bIns="0" rtlCol="0" anchor="t">
            <a:normAutofit/>
          </a:bodyPr>
          <a:lstStyle/>
          <a:p>
            <a:pPr algn="l" indent="0" marL="0">
              <a:lnSpc>
                <a:spcPct val="112000"/>
              </a:lnSpc>
              <a:buNone/>
            </a:pPr>
            <a:r>
              <a:rPr lang="en-US" sz="1550" dirty="0">
                <a:solidFill>
                  <a:srgbClr val="1F2937"/>
                </a:solidFill>
                <a:latin typeface="Fira Sans" pitchFamily="34" charset="0"/>
                <a:ea typeface="Fira Sans" pitchFamily="34" charset="-122"/>
                <a:cs typeface="Fira Sans" pitchFamily="34" charset="-120"/>
              </a:rPr>
              <a:t>Ends the calling process and returns an exit status through normal library handling.</a:t>
            </a:r>
            <a:endParaRPr lang="en-US" sz="1550" dirty="0"/>
          </a:p>
        </p:txBody>
      </p:sp>
      <p:sp>
        <p:nvSpPr>
          <p:cNvPr id="7" name="Text 5"/>
          <p:cNvSpPr/>
          <p:nvPr/>
        </p:nvSpPr>
        <p:spPr>
          <a:xfrm>
            <a:off x="3174921" y="2910780"/>
            <a:ext cx="2463738" cy="298053"/>
          </a:xfrm>
          <a:prstGeom prst="rect">
            <a:avLst/>
          </a:prstGeom>
          <a:noFill/>
          <a:ln/>
        </p:spPr>
        <p:txBody>
          <a:bodyPr wrap="none" lIns="0" tIns="0" rIns="0" bIns="0" rtlCol="0" anchor="t"/>
          <a:lstStyle/>
          <a:p>
            <a:pPr algn="l" indent="0" marL="0">
              <a:lnSpc>
                <a:spcPct val="108000"/>
              </a:lnSpc>
              <a:buNone/>
            </a:pPr>
            <a:r>
              <a:rPr lang="en-US" sz="1800" dirty="0">
                <a:solidFill>
                  <a:srgbClr val="1F2937"/>
                </a:solidFill>
                <a:highlight>
                  <a:srgbClr val="F3F5F8"/>
                </a:highlight>
                <a:latin typeface="Consolas" pitchFamily="34" charset="0"/>
                <a:ea typeface="Consolas" pitchFamily="34" charset="-122"/>
                <a:cs typeface="Consolas" pitchFamily="34" charset="-120"/>
              </a:rPr>
              <a:t>_exit()</a:t>
            </a:r>
            <a:endParaRPr lang="en-US" sz="1800" dirty="0"/>
          </a:p>
        </p:txBody>
      </p:sp>
      <p:sp>
        <p:nvSpPr>
          <p:cNvPr id="8" name="Text 6"/>
          <p:cNvSpPr/>
          <p:nvPr/>
        </p:nvSpPr>
        <p:spPr>
          <a:xfrm>
            <a:off x="3174921" y="3366691"/>
            <a:ext cx="2463738" cy="808434"/>
          </a:xfrm>
          <a:prstGeom prst="rect">
            <a:avLst/>
          </a:prstGeom>
          <a:noFill/>
          <a:ln/>
        </p:spPr>
        <p:txBody>
          <a:bodyPr wrap="square" lIns="0" tIns="0" rIns="0" bIns="0" rtlCol="0" anchor="t">
            <a:normAutofit/>
          </a:bodyPr>
          <a:lstStyle/>
          <a:p>
            <a:pPr algn="l" indent="0" marL="0">
              <a:lnSpc>
                <a:spcPct val="112000"/>
              </a:lnSpc>
              <a:buNone/>
            </a:pPr>
            <a:r>
              <a:rPr lang="en-US" sz="1550" dirty="0">
                <a:solidFill>
                  <a:srgbClr val="1F2937"/>
                </a:solidFill>
                <a:latin typeface="Fira Sans" pitchFamily="34" charset="0"/>
                <a:ea typeface="Fira Sans" pitchFamily="34" charset="-122"/>
                <a:cs typeface="Fira Sans" pitchFamily="34" charset="-120"/>
              </a:rPr>
              <a:t>Terminates immediately, bypassing standard I/O flushing and exit handlers.</a:t>
            </a:r>
            <a:endParaRPr lang="en-US" sz="1550" dirty="0"/>
          </a:p>
        </p:txBody>
      </p:sp>
      <p:sp>
        <p:nvSpPr>
          <p:cNvPr id="9" name="Text 7"/>
          <p:cNvSpPr/>
          <p:nvPr/>
        </p:nvSpPr>
        <p:spPr>
          <a:xfrm>
            <a:off x="457189" y="4647803"/>
            <a:ext cx="2463738" cy="298053"/>
          </a:xfrm>
          <a:prstGeom prst="rect">
            <a:avLst/>
          </a:prstGeom>
          <a:noFill/>
          <a:ln/>
        </p:spPr>
        <p:txBody>
          <a:bodyPr wrap="none" lIns="0" tIns="0" rIns="0" bIns="0" rtlCol="0" anchor="t"/>
          <a:lstStyle/>
          <a:p>
            <a:pPr algn="l" indent="0" marL="0">
              <a:lnSpc>
                <a:spcPct val="108000"/>
              </a:lnSpc>
              <a:buNone/>
            </a:pPr>
            <a:r>
              <a:rPr lang="en-US" sz="1800" dirty="0">
                <a:solidFill>
                  <a:srgbClr val="1F2937"/>
                </a:solidFill>
                <a:highlight>
                  <a:srgbClr val="F3F5F8"/>
                </a:highlight>
                <a:latin typeface="Consolas" pitchFamily="34" charset="0"/>
                <a:ea typeface="Consolas" pitchFamily="34" charset="-122"/>
                <a:cs typeface="Consolas" pitchFamily="34" charset="-120"/>
              </a:rPr>
              <a:t>wait()</a:t>
            </a:r>
            <a:endParaRPr lang="en-US" sz="1800" dirty="0"/>
          </a:p>
        </p:txBody>
      </p:sp>
      <p:sp>
        <p:nvSpPr>
          <p:cNvPr id="10" name="Text 8"/>
          <p:cNvSpPr/>
          <p:nvPr/>
        </p:nvSpPr>
        <p:spPr>
          <a:xfrm>
            <a:off x="457189" y="5103713"/>
            <a:ext cx="2463738" cy="808434"/>
          </a:xfrm>
          <a:prstGeom prst="rect">
            <a:avLst/>
          </a:prstGeom>
          <a:noFill/>
          <a:ln/>
        </p:spPr>
        <p:txBody>
          <a:bodyPr wrap="square" lIns="0" tIns="0" rIns="0" bIns="0" rtlCol="0" anchor="t">
            <a:normAutofit/>
          </a:bodyPr>
          <a:lstStyle/>
          <a:p>
            <a:pPr algn="l" indent="0" marL="0">
              <a:lnSpc>
                <a:spcPct val="112000"/>
              </a:lnSpc>
              <a:buNone/>
            </a:pPr>
            <a:r>
              <a:rPr lang="en-US" sz="1550" dirty="0">
                <a:solidFill>
                  <a:srgbClr val="1F2937"/>
                </a:solidFill>
                <a:latin typeface="Fira Sans" pitchFamily="34" charset="0"/>
                <a:ea typeface="Fira Sans" pitchFamily="34" charset="-122"/>
                <a:cs typeface="Fira Sans" pitchFamily="34" charset="-120"/>
              </a:rPr>
              <a:t>Blocks the parent until a child changes state and returns status information.</a:t>
            </a:r>
            <a:endParaRPr lang="en-US" sz="1550" dirty="0"/>
          </a:p>
        </p:txBody>
      </p:sp>
      <p:sp>
        <p:nvSpPr>
          <p:cNvPr id="11" name="Text 9"/>
          <p:cNvSpPr/>
          <p:nvPr/>
        </p:nvSpPr>
        <p:spPr>
          <a:xfrm>
            <a:off x="3174921" y="4647803"/>
            <a:ext cx="2463738" cy="298053"/>
          </a:xfrm>
          <a:prstGeom prst="rect">
            <a:avLst/>
          </a:prstGeom>
          <a:noFill/>
          <a:ln/>
        </p:spPr>
        <p:txBody>
          <a:bodyPr wrap="none" lIns="0" tIns="0" rIns="0" bIns="0" rtlCol="0" anchor="t"/>
          <a:lstStyle/>
          <a:p>
            <a:pPr algn="l" indent="0" marL="0">
              <a:lnSpc>
                <a:spcPct val="108000"/>
              </a:lnSpc>
              <a:buNone/>
            </a:pPr>
            <a:r>
              <a:rPr lang="en-US" sz="1800" dirty="0">
                <a:solidFill>
                  <a:srgbClr val="1F2937"/>
                </a:solidFill>
                <a:highlight>
                  <a:srgbClr val="F3F5F8"/>
                </a:highlight>
                <a:latin typeface="Consolas" pitchFamily="34" charset="0"/>
                <a:ea typeface="Consolas" pitchFamily="34" charset="-122"/>
                <a:cs typeface="Consolas" pitchFamily="34" charset="-120"/>
              </a:rPr>
              <a:t>waitpid()</a:t>
            </a:r>
            <a:endParaRPr lang="en-US" sz="1800" dirty="0"/>
          </a:p>
        </p:txBody>
      </p:sp>
      <p:sp>
        <p:nvSpPr>
          <p:cNvPr id="12" name="Text 10"/>
          <p:cNvSpPr/>
          <p:nvPr/>
        </p:nvSpPr>
        <p:spPr>
          <a:xfrm>
            <a:off x="3174921" y="5103713"/>
            <a:ext cx="2463738" cy="808434"/>
          </a:xfrm>
          <a:prstGeom prst="rect">
            <a:avLst/>
          </a:prstGeom>
          <a:noFill/>
          <a:ln/>
        </p:spPr>
        <p:txBody>
          <a:bodyPr wrap="square" lIns="0" tIns="0" rIns="0" bIns="0" rtlCol="0" anchor="t">
            <a:normAutofit/>
          </a:bodyPr>
          <a:lstStyle/>
          <a:p>
            <a:pPr algn="l" indent="0" marL="0">
              <a:lnSpc>
                <a:spcPct val="112000"/>
              </a:lnSpc>
              <a:buNone/>
            </a:pPr>
            <a:r>
              <a:rPr lang="en-US" sz="1550" dirty="0">
                <a:solidFill>
                  <a:srgbClr val="1F2937"/>
                </a:solidFill>
                <a:latin typeface="Fira Sans" pitchFamily="34" charset="0"/>
                <a:ea typeface="Fira Sans" pitchFamily="34" charset="-122"/>
                <a:cs typeface="Fira Sans" pitchFamily="34" charset="-120"/>
              </a:rPr>
              <a:t>Waits for a selected child and supports more precise control.</a:t>
            </a:r>
            <a:endParaRPr lang="en-US" sz="1550" dirty="0"/>
          </a:p>
        </p:txBody>
      </p:sp>
      <p:sp>
        <p:nvSpPr>
          <p:cNvPr id="13" name="Text 11"/>
          <p:cNvSpPr/>
          <p:nvPr/>
        </p:nvSpPr>
        <p:spPr>
          <a:xfrm>
            <a:off x="457189" y="6479183"/>
            <a:ext cx="5181470" cy="381992"/>
          </a:xfrm>
          <a:prstGeom prst="rect">
            <a:avLst/>
          </a:prstGeom>
          <a:noFill/>
          <a:ln/>
        </p:spPr>
        <p:txBody>
          <a:bodyPr wrap="square" lIns="0" tIns="0" rIns="0" bIns="0" rtlCol="0" anchor="t">
            <a:normAutofit/>
          </a:bodyPr>
          <a:lstStyle/>
          <a:p>
            <a:pPr algn="l" indent="0" marL="0">
              <a:lnSpc>
                <a:spcPct val="108000"/>
              </a:lnSpc>
              <a:buNone/>
            </a:pPr>
            <a:r>
              <a:rPr lang="en-US" sz="1150" b="1" dirty="0">
                <a:solidFill>
                  <a:srgbClr val="5B6577"/>
                </a:solidFill>
                <a:latin typeface="Fira Sans Bold" pitchFamily="34" charset="0"/>
                <a:ea typeface="Fira Sans Bold" pitchFamily="34" charset="-122"/>
                <a:cs typeface="Fira Sans Bold" pitchFamily="34" charset="-120"/>
              </a:rPr>
              <a:t>Termination status</a:t>
            </a:r>
            <a:pPr algn="l" indent="0" marL="0">
              <a:lnSpc>
                <a:spcPct val="108000"/>
              </a:lnSpc>
              <a:buNone/>
            </a:pPr>
            <a:r>
              <a:rPr lang="en-US" sz="1150" dirty="0">
                <a:solidFill>
                  <a:srgbClr val="5B6577"/>
                </a:solidFill>
                <a:latin typeface="Fira Sans" pitchFamily="34" charset="0"/>
                <a:ea typeface="Fira Sans" pitchFamily="34" charset="-122"/>
                <a:cs typeface="Fira Sans" pitchFamily="34" charset="-120"/>
              </a:rPr>
              <a:t> lets the parent distinguish normal exit from signal-based termination.</a:t>
            </a:r>
            <a:endParaRPr lang="en-US" sz="1150" dirty="0"/>
          </a:p>
        </p:txBody>
      </p:sp>
      <p:sp>
        <p:nvSpPr>
          <p:cNvPr id="14" name="Shape 12"/>
          <p:cNvSpPr/>
          <p:nvPr/>
        </p:nvSpPr>
        <p:spPr>
          <a:xfrm>
            <a:off x="6095848" y="0"/>
            <a:ext cx="6095848" cy="6858000"/>
          </a:xfrm>
          <a:custGeom>
            <a:avLst/>
            <a:gdLst/>
            <a:ahLst/>
            <a:cxnLst/>
            <a:rect l="l" t="t" r="r" b="b"/>
            <a:pathLst>
              <a:path w="6095848" h="6858000">
                <a:moveTo>
                  <a:pt x="0" y="0"/>
                </a:moveTo>
                <a:lnTo>
                  <a:pt x="6068857" y="0"/>
                </a:lnTo>
                <a:arcTo hR="26991" wR="26991" stAng="16200000" swAng="5400000"/>
                <a:lnTo>
                  <a:pt x="6095848" y="6831009"/>
                </a:lnTo>
                <a:arcTo hR="26991" wR="26991" stAng="0" swAng="5400000"/>
                <a:lnTo>
                  <a:pt x="0" y="6858000"/>
                </a:lnTo>
                <a:lnTo>
                  <a:pt x="0" y="0"/>
                </a:lnTo>
                <a:close/>
              </a:path>
            </a:pathLst>
          </a:custGeom>
          <a:solidFill>
            <a:srgbClr val="2B3544"/>
          </a:solidFill>
          <a:ln/>
        </p:spPr>
      </p:sp>
      <p:sp>
        <p:nvSpPr>
          <p:cNvPr id="15" name="Text 13"/>
          <p:cNvSpPr/>
          <p:nvPr/>
        </p:nvSpPr>
        <p:spPr>
          <a:xfrm>
            <a:off x="6375241" y="1456134"/>
            <a:ext cx="5816454" cy="269478"/>
          </a:xfrm>
          <a:prstGeom prst="rect">
            <a:avLst/>
          </a:prstGeom>
          <a:noFill/>
          <a:ln/>
        </p:spPr>
        <p:txBody>
          <a:bodyPr wrap="none" lIns="0" tIns="0" rIns="0" bIns="0" rtlCol="0" anchor="t"/>
          <a:lstStyle/>
          <a:p>
            <a:pPr algn="l" indent="0" marL="0">
              <a:lnSpc>
                <a:spcPct val="112000"/>
              </a:lnSpc>
              <a:buNone/>
            </a:pPr>
            <a:r>
              <a:rPr lang="en-US" sz="1550" spc="31" kern="0" dirty="0">
                <a:solidFill>
                  <a:srgbClr val="94A1B3"/>
                </a:solidFill>
                <a:latin typeface="Fira Mono" pitchFamily="34" charset="0"/>
                <a:ea typeface="Fira Mono" pitchFamily="34" charset="-122"/>
                <a:cs typeface="Fira Mono" pitchFamily="34" charset="-120"/>
              </a:rPr>
              <a:t>PARENT–CHILD SWIMLANE</a:t>
            </a:r>
            <a:endParaRPr lang="en-US" sz="1550" dirty="0"/>
          </a:p>
        </p:txBody>
      </p:sp>
      <p:sp>
        <p:nvSpPr>
          <p:cNvPr id="16" name="Text 14"/>
          <p:cNvSpPr/>
          <p:nvPr/>
        </p:nvSpPr>
        <p:spPr>
          <a:xfrm>
            <a:off x="6375241" y="2023170"/>
            <a:ext cx="5537061" cy="666849"/>
          </a:xfrm>
          <a:prstGeom prst="rect">
            <a:avLst/>
          </a:prstGeom>
          <a:noFill/>
          <a:ln/>
        </p:spPr>
        <p:txBody>
          <a:bodyPr wrap="square" lIns="0" tIns="0" rIns="0" bIns="0" rtlCol="0" anchor="t"/>
          <a:lstStyle/>
          <a:p>
            <a:pPr algn="l" indent="0" marL="0">
              <a:lnSpc>
                <a:spcPct val="112000"/>
              </a:lnSpc>
              <a:spcAft>
                <a:spcPts val="1000"/>
              </a:spcAft>
              <a:buNone/>
            </a:pPr>
            <a:r>
              <a:rPr lang="en-US" sz="1550" b="1" dirty="0">
                <a:solidFill>
                  <a:srgbClr val="E5EAF2"/>
                </a:solidFill>
                <a:latin typeface="Fira Sans Bold" pitchFamily="34" charset="0"/>
                <a:ea typeface="Fira Sans Bold" pitchFamily="34" charset="-122"/>
                <a:cs typeface="Fira Sans Bold" pitchFamily="34" charset="-120"/>
              </a:rPr>
              <a:t>Child process</a:t>
            </a:r>
            <a:endParaRPr lang="en-US" sz="1550" dirty="0"/>
          </a:p>
          <a:p>
            <a:pPr algn="l" indent="0" marL="0">
              <a:lnSpc>
                <a:spcPct val="112000"/>
              </a:lnSpc>
              <a:buNone/>
            </a:pPr>
            <a:r>
              <a:rPr lang="en-US" sz="1550" dirty="0">
                <a:solidFill>
                  <a:srgbClr val="E5EAF2"/>
                </a:solidFill>
                <a:latin typeface="Fira Sans" pitchFamily="34" charset="0"/>
                <a:ea typeface="Fira Sans" pitchFamily="34" charset="-122"/>
                <a:cs typeface="Fira Sans" pitchFamily="34" charset="-120"/>
              </a:rPr>
              <a:t>exit(status) / signal</a:t>
            </a:r>
            <a:endParaRPr lang="en-US" sz="1550" dirty="0"/>
          </a:p>
        </p:txBody>
      </p:sp>
      <p:sp>
        <p:nvSpPr>
          <p:cNvPr id="17" name="Text 15"/>
          <p:cNvSpPr/>
          <p:nvPr/>
        </p:nvSpPr>
        <p:spPr>
          <a:xfrm>
            <a:off x="6375241" y="2893219"/>
            <a:ext cx="5537061" cy="666849"/>
          </a:xfrm>
          <a:prstGeom prst="rect">
            <a:avLst/>
          </a:prstGeom>
          <a:noFill/>
          <a:ln/>
        </p:spPr>
        <p:txBody>
          <a:bodyPr wrap="square" lIns="0" tIns="0" rIns="0" bIns="0" rtlCol="0" anchor="t"/>
          <a:lstStyle/>
          <a:p>
            <a:pPr algn="l" indent="0" marL="0">
              <a:lnSpc>
                <a:spcPct val="112000"/>
              </a:lnSpc>
              <a:spcAft>
                <a:spcPts val="1000"/>
              </a:spcAft>
              <a:buNone/>
            </a:pPr>
            <a:r>
              <a:rPr lang="en-US" sz="1550" b="1" dirty="0">
                <a:solidFill>
                  <a:srgbClr val="E5EAF2"/>
                </a:solidFill>
                <a:latin typeface="Fira Sans Bold" pitchFamily="34" charset="0"/>
                <a:ea typeface="Fira Sans Bold" pitchFamily="34" charset="-122"/>
                <a:cs typeface="Fira Sans Bold" pitchFamily="34" charset="-120"/>
              </a:rPr>
              <a:t>OS record</a:t>
            </a:r>
            <a:endParaRPr lang="en-US" sz="1550" dirty="0"/>
          </a:p>
          <a:p>
            <a:pPr algn="l" indent="0" marL="0">
              <a:lnSpc>
                <a:spcPct val="112000"/>
              </a:lnSpc>
              <a:buNone/>
            </a:pPr>
            <a:r>
              <a:rPr lang="en-US" sz="1550" dirty="0">
                <a:solidFill>
                  <a:srgbClr val="8AB4F8"/>
                </a:solidFill>
                <a:latin typeface="Fira Sans" pitchFamily="34" charset="0"/>
                <a:ea typeface="Fira Sans" pitchFamily="34" charset="-122"/>
                <a:cs typeface="Fira Sans" pitchFamily="34" charset="-120"/>
              </a:rPr>
              <a:t>termination status</a:t>
            </a:r>
            <a:endParaRPr lang="en-US" sz="1550" dirty="0"/>
          </a:p>
        </p:txBody>
      </p:sp>
      <p:sp>
        <p:nvSpPr>
          <p:cNvPr id="18" name="Text 16"/>
          <p:cNvSpPr/>
          <p:nvPr/>
        </p:nvSpPr>
        <p:spPr>
          <a:xfrm>
            <a:off x="6375241" y="3763268"/>
            <a:ext cx="5537061" cy="666849"/>
          </a:xfrm>
          <a:prstGeom prst="rect">
            <a:avLst/>
          </a:prstGeom>
          <a:noFill/>
          <a:ln/>
        </p:spPr>
        <p:txBody>
          <a:bodyPr wrap="square" lIns="0" tIns="0" rIns="0" bIns="0" rtlCol="0" anchor="t"/>
          <a:lstStyle/>
          <a:p>
            <a:pPr algn="l" indent="0" marL="0">
              <a:lnSpc>
                <a:spcPct val="112000"/>
              </a:lnSpc>
              <a:spcAft>
                <a:spcPts val="1000"/>
              </a:spcAft>
              <a:buNone/>
            </a:pPr>
            <a:r>
              <a:rPr lang="en-US" sz="1550" b="1" dirty="0">
                <a:solidFill>
                  <a:srgbClr val="E5EAF2"/>
                </a:solidFill>
                <a:latin typeface="Fira Sans Bold" pitchFamily="34" charset="0"/>
                <a:ea typeface="Fira Sans Bold" pitchFamily="34" charset="-122"/>
                <a:cs typeface="Fira Sans Bold" pitchFamily="34" charset="-120"/>
              </a:rPr>
              <a:t>Parent process</a:t>
            </a:r>
            <a:endParaRPr lang="en-US" sz="1550" dirty="0"/>
          </a:p>
          <a:p>
            <a:pPr algn="l" indent="0" marL="0">
              <a:lnSpc>
                <a:spcPct val="112000"/>
              </a:lnSpc>
              <a:buNone/>
            </a:pPr>
            <a:r>
              <a:rPr lang="en-US" sz="1550" dirty="0">
                <a:solidFill>
                  <a:srgbClr val="E5EAF2"/>
                </a:solidFill>
                <a:latin typeface="Fira Sans" pitchFamily="34" charset="0"/>
                <a:ea typeface="Fira Sans" pitchFamily="34" charset="-122"/>
                <a:cs typeface="Fira Sans" pitchFamily="34" charset="-120"/>
              </a:rPr>
              <a:t>wait() / waitpid()</a:t>
            </a:r>
            <a:endParaRPr lang="en-US" sz="1550" dirty="0"/>
          </a:p>
        </p:txBody>
      </p:sp>
      <p:sp>
        <p:nvSpPr>
          <p:cNvPr id="19" name="Text 17"/>
          <p:cNvSpPr/>
          <p:nvPr/>
        </p:nvSpPr>
        <p:spPr>
          <a:xfrm>
            <a:off x="6375241" y="4633317"/>
            <a:ext cx="5537061" cy="666849"/>
          </a:xfrm>
          <a:prstGeom prst="rect">
            <a:avLst/>
          </a:prstGeom>
          <a:noFill/>
          <a:ln/>
        </p:spPr>
        <p:txBody>
          <a:bodyPr wrap="square" lIns="0" tIns="0" rIns="0" bIns="0" rtlCol="0" anchor="t"/>
          <a:lstStyle/>
          <a:p>
            <a:pPr algn="l" indent="0" marL="0">
              <a:lnSpc>
                <a:spcPct val="112000"/>
              </a:lnSpc>
              <a:spcAft>
                <a:spcPts val="1000"/>
              </a:spcAft>
              <a:buNone/>
            </a:pPr>
            <a:r>
              <a:rPr lang="en-US" sz="1550" b="1" dirty="0">
                <a:solidFill>
                  <a:srgbClr val="E5EAF2"/>
                </a:solidFill>
                <a:latin typeface="Fira Sans Bold" pitchFamily="34" charset="0"/>
                <a:ea typeface="Fira Sans Bold" pitchFamily="34" charset="-122"/>
                <a:cs typeface="Fira Sans Bold" pitchFamily="34" charset="-120"/>
              </a:rPr>
              <a:t>Message</a:t>
            </a:r>
            <a:endParaRPr lang="en-US" sz="1550" dirty="0"/>
          </a:p>
          <a:p>
            <a:pPr algn="l" indent="0" marL="0">
              <a:lnSpc>
                <a:spcPct val="112000"/>
              </a:lnSpc>
              <a:buNone/>
            </a:pPr>
            <a:r>
              <a:rPr lang="en-US" sz="1550" dirty="0">
                <a:solidFill>
                  <a:srgbClr val="E5EAF2"/>
                </a:solidFill>
                <a:latin typeface="Fira Sans" pitchFamily="34" charset="0"/>
                <a:ea typeface="Fira Sans" pitchFamily="34" charset="-122"/>
                <a:cs typeface="Fira Sans" pitchFamily="34" charset="-120"/>
              </a:rPr>
              <a:t>normal exit or signal-based termination</a:t>
            </a:r>
            <a:endParaRPr lang="en-US" sz="1550" dirty="0"/>
          </a:p>
        </p:txBody>
      </p:sp>
      <p:sp>
        <p:nvSpPr>
          <p:cNvPr id="20" name="Shape 18"/>
          <p:cNvSpPr/>
          <p:nvPr/>
        </p:nvSpPr>
        <p:spPr>
          <a:xfrm>
            <a:off x="3041574" y="2809180"/>
            <a:ext cx="12700" cy="1737023"/>
          </a:xfrm>
          <a:prstGeom prst="rect">
            <a:avLst/>
          </a:prstGeom>
          <a:solidFill>
            <a:srgbClr val="CBD3DE"/>
          </a:solidFill>
          <a:ln/>
        </p:spPr>
      </p:sp>
      <p:sp>
        <p:nvSpPr>
          <p:cNvPr id="21" name="Shape 19"/>
          <p:cNvSpPr/>
          <p:nvPr/>
        </p:nvSpPr>
        <p:spPr>
          <a:xfrm>
            <a:off x="457189" y="4539853"/>
            <a:ext cx="2590735" cy="12700"/>
          </a:xfrm>
          <a:prstGeom prst="rect">
            <a:avLst/>
          </a:prstGeom>
          <a:solidFill>
            <a:srgbClr val="CBD3DE"/>
          </a:solidFill>
          <a:ln/>
        </p:spPr>
      </p:sp>
      <p:sp>
        <p:nvSpPr>
          <p:cNvPr id="22" name="Shape 20"/>
          <p:cNvSpPr/>
          <p:nvPr/>
        </p:nvSpPr>
        <p:spPr>
          <a:xfrm>
            <a:off x="3041574" y="4546203"/>
            <a:ext cx="12700" cy="1737023"/>
          </a:xfrm>
          <a:prstGeom prst="rect">
            <a:avLst/>
          </a:prstGeom>
          <a:solidFill>
            <a:srgbClr val="CBD3DE"/>
          </a:solidFill>
          <a:ln/>
        </p:spPr>
      </p:sp>
      <p:sp>
        <p:nvSpPr>
          <p:cNvPr id="23" name="Shape 21"/>
          <p:cNvSpPr/>
          <p:nvPr/>
        </p:nvSpPr>
        <p:spPr>
          <a:xfrm>
            <a:off x="3047924" y="4539853"/>
            <a:ext cx="2590735" cy="12700"/>
          </a:xfrm>
          <a:prstGeom prst="rect">
            <a:avLst/>
          </a:prstGeom>
          <a:solidFill>
            <a:srgbClr val="CBD3DE"/>
          </a:solidFill>
          <a:ln/>
        </p:spPr>
      </p:sp>
      <p:sp>
        <p:nvSpPr>
          <p:cNvPr id="24" name="Shape 22"/>
          <p:cNvSpPr/>
          <p:nvPr/>
        </p:nvSpPr>
        <p:spPr>
          <a:xfrm>
            <a:off x="6375241" y="2785269"/>
            <a:ext cx="5537061" cy="12700"/>
          </a:xfrm>
          <a:prstGeom prst="rect">
            <a:avLst/>
          </a:prstGeom>
          <a:solidFill>
            <a:srgbClr val="CBD3DE"/>
          </a:solidFill>
          <a:ln/>
        </p:spPr>
      </p:sp>
      <p:sp>
        <p:nvSpPr>
          <p:cNvPr id="25" name="Shape 23"/>
          <p:cNvSpPr/>
          <p:nvPr/>
        </p:nvSpPr>
        <p:spPr>
          <a:xfrm>
            <a:off x="6375241" y="3655318"/>
            <a:ext cx="5537061" cy="12700"/>
          </a:xfrm>
          <a:prstGeom prst="rect">
            <a:avLst/>
          </a:prstGeom>
          <a:solidFill>
            <a:srgbClr val="CBD3DE"/>
          </a:solidFill>
          <a:ln/>
        </p:spPr>
      </p:sp>
      <p:sp>
        <p:nvSpPr>
          <p:cNvPr id="26" name="Shape 24"/>
          <p:cNvSpPr/>
          <p:nvPr/>
        </p:nvSpPr>
        <p:spPr>
          <a:xfrm>
            <a:off x="6375241" y="4525367"/>
            <a:ext cx="5537061" cy="12700"/>
          </a:xfrm>
          <a:prstGeom prst="rect">
            <a:avLst/>
          </a:prstGeom>
          <a:solidFill>
            <a:srgbClr val="CBD3DE"/>
          </a:solidFill>
          <a:ln/>
        </p:spPr>
      </p:sp>
      <p:sp>
        <p:nvSpPr>
          <p:cNvPr id="27" name="Text 25"/>
          <p:cNvSpPr/>
          <p:nvPr/>
        </p:nvSpPr>
        <p:spPr>
          <a:xfrm>
            <a:off x="11656225" y="6531570"/>
            <a:ext cx="535470" cy="195560"/>
          </a:xfrm>
          <a:prstGeom prst="rect">
            <a:avLst/>
          </a:prstGeom>
          <a:noFill/>
          <a:ln/>
        </p:spPr>
        <p:txBody>
          <a:bodyPr wrap="none" lIns="0" tIns="0" rIns="0" bIns="0" rtlCol="0" anchor="ctr"/>
          <a:lstStyle/>
          <a:p>
            <a:pPr algn="l" indent="0" marL="0">
              <a:lnSpc>
                <a:spcPct val="117000"/>
              </a:lnSpc>
              <a:buNone/>
            </a:pPr>
            <a:r>
              <a:rPr lang="en-US" sz="1100" dirty="0">
                <a:solidFill>
                  <a:srgbClr val="1F2937"/>
                </a:solidFill>
                <a:latin typeface="Fira Sans" pitchFamily="34" charset="0"/>
                <a:ea typeface="Fira Sans" pitchFamily="34" charset="-122"/>
                <a:cs typeface="Fira Sans"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189" y="457200"/>
            <a:ext cx="11734506" cy="302220"/>
          </a:xfrm>
          <a:prstGeom prst="rect">
            <a:avLst/>
          </a:prstGeom>
          <a:noFill/>
          <a:ln/>
        </p:spPr>
        <p:txBody>
          <a:bodyPr wrap="none" lIns="0" tIns="0" rIns="0" bIns="0" rtlCol="0" anchor="t"/>
          <a:lstStyle/>
          <a:p>
            <a:pPr algn="l" indent="0" marL="0">
              <a:lnSpc>
                <a:spcPct val="117000"/>
              </a:lnSpc>
              <a:buNone/>
            </a:pPr>
            <a:r>
              <a:rPr lang="en-US" sz="1700" spc="34" kern="0" dirty="0">
                <a:solidFill>
                  <a:srgbClr val="1F2937"/>
                </a:solidFill>
                <a:latin typeface="Fira Mono" pitchFamily="34" charset="0"/>
                <a:ea typeface="Fira Mono" pitchFamily="34" charset="-122"/>
                <a:cs typeface="Fira Mono" pitchFamily="34" charset="-120"/>
              </a:rPr>
              <a:t>A COMPLETE HANDSHAKE</a:t>
            </a:r>
            <a:endParaRPr lang="en-US" sz="1700" dirty="0"/>
          </a:p>
        </p:txBody>
      </p:sp>
      <p:sp>
        <p:nvSpPr>
          <p:cNvPr id="3" name="Text 1"/>
          <p:cNvSpPr/>
          <p:nvPr/>
        </p:nvSpPr>
        <p:spPr>
          <a:xfrm>
            <a:off x="457189" y="1194395"/>
            <a:ext cx="11277318" cy="408880"/>
          </a:xfrm>
          <a:prstGeom prst="rect">
            <a:avLst/>
          </a:prstGeom>
          <a:noFill/>
          <a:ln/>
        </p:spPr>
        <p:txBody>
          <a:bodyPr wrap="none" lIns="0" tIns="0" rIns="0" bIns="0" rtlCol="0" anchor="t"/>
          <a:lstStyle/>
          <a:p>
            <a:pPr algn="l" indent="0" marL="0">
              <a:lnSpc>
                <a:spcPct val="96000"/>
              </a:lnSpc>
              <a:buNone/>
            </a:pPr>
            <a:r>
              <a:rPr lang="en-US" sz="2800" spc="-28" kern="0" dirty="0">
                <a:solidFill>
                  <a:srgbClr val="1F2937"/>
                </a:solidFill>
                <a:latin typeface="Fira Sans SemiBold" pitchFamily="34" charset="0"/>
                <a:ea typeface="Fira Sans SemiBold" pitchFamily="34" charset="-122"/>
                <a:cs typeface="Fira Sans SemiBold" pitchFamily="34" charset="-120"/>
              </a:rPr>
              <a:t>A short C example shows the complete handshake</a:t>
            </a:r>
            <a:endParaRPr lang="en-US" sz="2800" dirty="0"/>
          </a:p>
        </p:txBody>
      </p:sp>
      <p:sp>
        <p:nvSpPr>
          <p:cNvPr id="4" name="Shape 2"/>
          <p:cNvSpPr/>
          <p:nvPr/>
        </p:nvSpPr>
        <p:spPr>
          <a:xfrm>
            <a:off x="457189" y="1857276"/>
            <a:ext cx="6311742" cy="4719241"/>
          </a:xfrm>
          <a:prstGeom prst="rect">
            <a:avLst/>
          </a:prstGeom>
          <a:solidFill>
            <a:srgbClr val="2B3544"/>
          </a:solidFill>
          <a:ln/>
        </p:spPr>
      </p:sp>
      <p:sp>
        <p:nvSpPr>
          <p:cNvPr id="5" name="Text 3"/>
          <p:cNvSpPr/>
          <p:nvPr/>
        </p:nvSpPr>
        <p:spPr>
          <a:xfrm>
            <a:off x="457189" y="1857276"/>
            <a:ext cx="6311742" cy="441325"/>
          </a:xfrm>
          <a:prstGeom prst="rect">
            <a:avLst/>
          </a:prstGeom>
          <a:noFill/>
          <a:ln/>
        </p:spPr>
        <p:txBody>
          <a:bodyPr wrap="square" lIns="253994" tIns="126997" rIns="253994" bIns="101598" rtlCol="0" anchor="t">
            <a:normAutofit/>
          </a:bodyPr>
          <a:lstStyle/>
          <a:p>
            <a:pPr algn="l" indent="0" marL="0">
              <a:lnSpc>
                <a:spcPct val="108000"/>
              </a:lnSpc>
              <a:buNone/>
            </a:pPr>
            <a:r>
              <a:rPr lang="en-US" sz="1250" spc="25" kern="0" dirty="0">
                <a:solidFill>
                  <a:srgbClr val="FFFFFF"/>
                </a:solidFill>
                <a:latin typeface="Fira Mono" pitchFamily="34" charset="0"/>
                <a:ea typeface="Fira Mono" pitchFamily="34" charset="-122"/>
                <a:cs typeface="Fira Mono" pitchFamily="34" charset="-120"/>
              </a:rPr>
              <a:t>process_status.c</a:t>
            </a:r>
            <a:endParaRPr lang="en-US" sz="1250" dirty="0"/>
          </a:p>
        </p:txBody>
      </p:sp>
      <p:sp>
        <p:nvSpPr>
          <p:cNvPr id="6" name="Text 4"/>
          <p:cNvSpPr/>
          <p:nvPr/>
        </p:nvSpPr>
        <p:spPr>
          <a:xfrm>
            <a:off x="711182" y="2336701"/>
            <a:ext cx="5803755" cy="4011216"/>
          </a:xfrm>
          <a:prstGeom prst="rect">
            <a:avLst/>
          </a:prstGeom>
          <a:noFill/>
          <a:ln/>
        </p:spPr>
        <p:txBody>
          <a:bodyPr wrap="square" lIns="0" tIns="0" rIns="0" bIns="0" rtlCol="0" anchor="t">
            <a:normAutofit/>
          </a:bodyPr>
          <a:lstStyle/>
          <a:p>
            <a:pPr algn="l" indent="0" marL="0">
              <a:lnSpc>
                <a:spcPct val="113000"/>
              </a:lnSpc>
              <a:buNone/>
            </a:pPr>
            <a:r>
              <a:rPr lang="en-US" sz="1300" dirty="0">
                <a:solidFill>
                  <a:srgbClr val="9CD69C"/>
                </a:solidFill>
                <a:latin typeface="Consolas" pitchFamily="34" charset="0"/>
                <a:ea typeface="Consolas" pitchFamily="34" charset="-122"/>
                <a:cs typeface="Consolas" pitchFamily="34" charset="-120"/>
              </a:rPr>
              <a:t>#include &lt;stdio.h&gt;</a:t>
            </a:r>
            <a:endParaRPr lang="en-US" sz="1300" dirty="0"/>
          </a:p>
          <a:p>
            <a:pPr algn="l" indent="0" marL="0">
              <a:lnSpc>
                <a:spcPct val="113000"/>
              </a:lnSpc>
              <a:buNone/>
            </a:pPr>
            <a:r>
              <a:rPr lang="en-US" sz="1300" dirty="0">
                <a:solidFill>
                  <a:srgbClr val="9CD69C"/>
                </a:solidFill>
                <a:latin typeface="Consolas" pitchFamily="34" charset="0"/>
                <a:ea typeface="Consolas" pitchFamily="34" charset="-122"/>
                <a:cs typeface="Consolas" pitchFamily="34" charset="-120"/>
              </a:rPr>
              <a:t>#include &lt;stdlib.h&gt;</a:t>
            </a:r>
            <a:endParaRPr lang="en-US" sz="1300" dirty="0"/>
          </a:p>
          <a:p>
            <a:pPr algn="l" indent="0" marL="0">
              <a:lnSpc>
                <a:spcPct val="113000"/>
              </a:lnSpc>
              <a:buNone/>
            </a:pPr>
            <a:r>
              <a:rPr lang="en-US" sz="1300" dirty="0">
                <a:solidFill>
                  <a:srgbClr val="9CD69C"/>
                </a:solidFill>
                <a:latin typeface="Consolas" pitchFamily="34" charset="0"/>
                <a:ea typeface="Consolas" pitchFamily="34" charset="-122"/>
                <a:cs typeface="Consolas" pitchFamily="34" charset="-120"/>
              </a:rPr>
              <a:t>#include &lt;sys/wait.h&gt;</a:t>
            </a:r>
            <a:endParaRPr lang="en-US" sz="1300" dirty="0"/>
          </a:p>
          <a:p>
            <a:pPr algn="l" indent="0" marL="0">
              <a:lnSpc>
                <a:spcPct val="113000"/>
              </a:lnSpc>
              <a:buNone/>
            </a:pPr>
            <a:r>
              <a:rPr lang="en-US" sz="1300" dirty="0">
                <a:solidFill>
                  <a:srgbClr val="9CD69C"/>
                </a:solidFill>
                <a:latin typeface="Consolas" pitchFamily="34" charset="0"/>
                <a:ea typeface="Consolas" pitchFamily="34" charset="-122"/>
                <a:cs typeface="Consolas" pitchFamily="34" charset="-120"/>
              </a:rPr>
              <a:t>#include &lt;unistd.h&gt;</a:t>
            </a:r>
            <a:endParaRPr lang="en-US" sz="1300" dirty="0"/>
          </a:p>
          <a:p>
            <a:pPr algn="l" indent="0" marL="0">
              <a:lnSpc>
                <a:spcPct val="113000"/>
              </a:lnSpc>
              <a:buNone/>
            </a:pPr>
            <a:endParaRPr lang="en-US" sz="1300" dirty="0"/>
          </a:p>
          <a:p>
            <a:pPr algn="l" indent="0" marL="0">
              <a:lnSpc>
                <a:spcPct val="113000"/>
              </a:lnSpc>
              <a:buNone/>
            </a:pPr>
            <a:r>
              <a:rPr lang="en-US" sz="1300" dirty="0">
                <a:solidFill>
                  <a:srgbClr val="9CD69C"/>
                </a:solidFill>
                <a:latin typeface="Consolas" pitchFamily="34" charset="0"/>
                <a:ea typeface="Consolas" pitchFamily="34" charset="-122"/>
                <a:cs typeface="Consolas" pitchFamily="34" charset="-120"/>
              </a:rPr>
              <a:t>int main(void) {</a:t>
            </a:r>
            <a:endParaRPr lang="en-US" sz="1300" dirty="0"/>
          </a:p>
          <a:p>
            <a:pPr algn="l" indent="0" marL="0">
              <a:lnSpc>
                <a:spcPct val="113000"/>
              </a:lnSpc>
              <a:buNone/>
            </a:pPr>
            <a:r>
              <a:rPr lang="en-US" sz="1300" dirty="0">
                <a:solidFill>
                  <a:srgbClr val="9CD69C"/>
                </a:solidFill>
                <a:latin typeface="Consolas" pitchFamily="34" charset="0"/>
                <a:ea typeface="Consolas" pitchFamily="34" charset="-122"/>
                <a:cs typeface="Consolas" pitchFamily="34" charset="-120"/>
              </a:rPr>
              <a:t>    pid_t pid = fork();</a:t>
            </a:r>
            <a:endParaRPr lang="en-US" sz="1300" dirty="0"/>
          </a:p>
          <a:p>
            <a:pPr algn="l" indent="0" marL="0">
              <a:lnSpc>
                <a:spcPct val="113000"/>
              </a:lnSpc>
              <a:buNone/>
            </a:pPr>
            <a:r>
              <a:rPr lang="en-US" sz="1300" dirty="0">
                <a:solidFill>
                  <a:srgbClr val="9CD69C"/>
                </a:solidFill>
                <a:latin typeface="Consolas" pitchFamily="34" charset="0"/>
                <a:ea typeface="Consolas" pitchFamily="34" charset="-122"/>
                <a:cs typeface="Consolas" pitchFamily="34" charset="-120"/>
              </a:rPr>
              <a:t>    if (pid == 0) {</a:t>
            </a:r>
            <a:endParaRPr lang="en-US" sz="1300" dirty="0"/>
          </a:p>
          <a:p>
            <a:pPr algn="l" indent="0" marL="0">
              <a:lnSpc>
                <a:spcPct val="113000"/>
              </a:lnSpc>
              <a:buNone/>
            </a:pPr>
            <a:r>
              <a:rPr lang="en-US" sz="1300" dirty="0">
                <a:solidFill>
                  <a:srgbClr val="9CD69C"/>
                </a:solidFill>
                <a:latin typeface="Consolas" pitchFamily="34" charset="0"/>
                <a:ea typeface="Consolas" pitchFamily="34" charset="-122"/>
                <a:cs typeface="Consolas" pitchFamily="34" charset="-120"/>
              </a:rPr>
              <a:t>        printf("Child executes\n");</a:t>
            </a:r>
            <a:endParaRPr lang="en-US" sz="1300" dirty="0"/>
          </a:p>
          <a:p>
            <a:pPr algn="l" indent="0" marL="0">
              <a:lnSpc>
                <a:spcPct val="113000"/>
              </a:lnSpc>
              <a:buNone/>
            </a:pPr>
            <a:r>
              <a:rPr lang="en-US" sz="1300" dirty="0">
                <a:solidFill>
                  <a:srgbClr val="9CD69C"/>
                </a:solidFill>
                <a:latin typeface="Consolas" pitchFamily="34" charset="0"/>
                <a:ea typeface="Consolas" pitchFamily="34" charset="-122"/>
                <a:cs typeface="Consolas" pitchFamily="34" charset="-120"/>
              </a:rPr>
              <a:t>        exit(0);</a:t>
            </a:r>
            <a:endParaRPr lang="en-US" sz="1300" dirty="0"/>
          </a:p>
          <a:p>
            <a:pPr algn="l" indent="0" marL="0">
              <a:lnSpc>
                <a:spcPct val="113000"/>
              </a:lnSpc>
              <a:buNone/>
            </a:pPr>
            <a:r>
              <a:rPr lang="en-US" sz="1300" dirty="0">
                <a:solidFill>
                  <a:srgbClr val="9CD69C"/>
                </a:solidFill>
                <a:latin typeface="Consolas" pitchFamily="34" charset="0"/>
                <a:ea typeface="Consolas" pitchFamily="34" charset="-122"/>
                <a:cs typeface="Consolas" pitchFamily="34" charset="-120"/>
              </a:rPr>
              <a:t>    }</a:t>
            </a:r>
            <a:endParaRPr lang="en-US" sz="1300" dirty="0"/>
          </a:p>
          <a:p>
            <a:pPr algn="l" indent="0" marL="0">
              <a:lnSpc>
                <a:spcPct val="113000"/>
              </a:lnSpc>
              <a:buNone/>
            </a:pPr>
            <a:r>
              <a:rPr lang="en-US" sz="1300" dirty="0">
                <a:solidFill>
                  <a:srgbClr val="9CD69C"/>
                </a:solidFill>
                <a:latin typeface="Consolas" pitchFamily="34" charset="0"/>
                <a:ea typeface="Consolas" pitchFamily="34" charset="-122"/>
                <a:cs typeface="Consolas" pitchFamily="34" charset="-120"/>
              </a:rPr>
              <a:t>    int status;</a:t>
            </a:r>
            <a:endParaRPr lang="en-US" sz="1300" dirty="0"/>
          </a:p>
          <a:p>
            <a:pPr algn="l" indent="0" marL="0">
              <a:lnSpc>
                <a:spcPct val="113000"/>
              </a:lnSpc>
              <a:buNone/>
            </a:pPr>
            <a:r>
              <a:rPr lang="en-US" sz="1300" dirty="0">
                <a:solidFill>
                  <a:srgbClr val="9CD69C"/>
                </a:solidFill>
                <a:latin typeface="Consolas" pitchFamily="34" charset="0"/>
                <a:ea typeface="Consolas" pitchFamily="34" charset="-122"/>
                <a:cs typeface="Consolas" pitchFamily="34" charset="-120"/>
              </a:rPr>
              <a:t>    wait(&amp;status);</a:t>
            </a:r>
            <a:endParaRPr lang="en-US" sz="1300" dirty="0"/>
          </a:p>
          <a:p>
            <a:pPr algn="l" indent="0" marL="0">
              <a:lnSpc>
                <a:spcPct val="113000"/>
              </a:lnSpc>
              <a:buNone/>
            </a:pPr>
            <a:r>
              <a:rPr lang="en-US" sz="1300" dirty="0">
                <a:solidFill>
                  <a:srgbClr val="9CD69C"/>
                </a:solidFill>
                <a:latin typeface="Consolas" pitchFamily="34" charset="0"/>
                <a:ea typeface="Consolas" pitchFamily="34" charset="-122"/>
                <a:cs typeface="Consolas" pitchFamily="34" charset="-120"/>
              </a:rPr>
              <a:t>    if (WIFEXITED(status))</a:t>
            </a:r>
            <a:endParaRPr lang="en-US" sz="1300" dirty="0"/>
          </a:p>
          <a:p>
            <a:pPr algn="l" indent="0" marL="0">
              <a:lnSpc>
                <a:spcPct val="113000"/>
              </a:lnSpc>
              <a:buNone/>
            </a:pPr>
            <a:r>
              <a:rPr lang="en-US" sz="1300" dirty="0">
                <a:solidFill>
                  <a:srgbClr val="9CD69C"/>
                </a:solidFill>
                <a:latin typeface="Consolas" pitchFamily="34" charset="0"/>
                <a:ea typeface="Consolas" pitchFamily="34" charset="-122"/>
                <a:cs typeface="Consolas" pitchFamily="34" charset="-120"/>
              </a:rPr>
              <a:t>        printf("Child exit status: %d\n", WEXITSTATUS(status));</a:t>
            </a:r>
            <a:endParaRPr lang="en-US" sz="1300" dirty="0"/>
          </a:p>
          <a:p>
            <a:pPr algn="l" indent="0" marL="0">
              <a:lnSpc>
                <a:spcPct val="113000"/>
              </a:lnSpc>
              <a:buNone/>
            </a:pPr>
            <a:r>
              <a:rPr lang="en-US" sz="1300" dirty="0">
                <a:solidFill>
                  <a:srgbClr val="9CD69C"/>
                </a:solidFill>
                <a:latin typeface="Consolas" pitchFamily="34" charset="0"/>
                <a:ea typeface="Consolas" pitchFamily="34" charset="-122"/>
                <a:cs typeface="Consolas" pitchFamily="34" charset="-120"/>
              </a:rPr>
              <a:t>    return 0;</a:t>
            </a:r>
            <a:endParaRPr lang="en-US" sz="1300" dirty="0"/>
          </a:p>
          <a:p>
            <a:pPr algn="l" indent="0" marL="0">
              <a:lnSpc>
                <a:spcPct val="113000"/>
              </a:lnSpc>
              <a:buNone/>
            </a:pPr>
            <a:r>
              <a:rPr lang="en-US" sz="1300" dirty="0">
                <a:solidFill>
                  <a:srgbClr val="9CD69C"/>
                </a:solidFill>
                <a:latin typeface="Consolas" pitchFamily="34" charset="0"/>
                <a:ea typeface="Consolas" pitchFamily="34" charset="-122"/>
                <a:cs typeface="Consolas" pitchFamily="34" charset="-120"/>
              </a:rPr>
              <a:t>}</a:t>
            </a:r>
            <a:endParaRPr lang="en-US" sz="1300" dirty="0"/>
          </a:p>
        </p:txBody>
      </p:sp>
      <p:sp>
        <p:nvSpPr>
          <p:cNvPr id="7" name="Text 5"/>
          <p:cNvSpPr/>
          <p:nvPr/>
        </p:nvSpPr>
        <p:spPr>
          <a:xfrm>
            <a:off x="7226119" y="2428677"/>
            <a:ext cx="4965576" cy="302220"/>
          </a:xfrm>
          <a:prstGeom prst="rect">
            <a:avLst/>
          </a:prstGeom>
          <a:noFill/>
          <a:ln/>
        </p:spPr>
        <p:txBody>
          <a:bodyPr wrap="none" lIns="0" tIns="0" rIns="0" bIns="0" rtlCol="0" anchor="t"/>
          <a:lstStyle/>
          <a:p>
            <a:pPr algn="l" indent="0" marL="0">
              <a:lnSpc>
                <a:spcPct val="117000"/>
              </a:lnSpc>
              <a:buNone/>
            </a:pPr>
            <a:r>
              <a:rPr lang="en-US" sz="1700" spc="34" kern="0" dirty="0">
                <a:solidFill>
                  <a:srgbClr val="1F2937"/>
                </a:solidFill>
                <a:latin typeface="Fira Mono" pitchFamily="34" charset="0"/>
                <a:ea typeface="Fira Mono" pitchFamily="34" charset="-122"/>
                <a:cs typeface="Fira Mono" pitchFamily="34" charset="-120"/>
              </a:rPr>
              <a:t>SEQUENCE</a:t>
            </a:r>
            <a:endParaRPr lang="en-US" sz="1700" dirty="0"/>
          </a:p>
        </p:txBody>
      </p:sp>
      <p:sp>
        <p:nvSpPr>
          <p:cNvPr id="8" name="Text 6"/>
          <p:cNvSpPr/>
          <p:nvPr/>
        </p:nvSpPr>
        <p:spPr>
          <a:xfrm>
            <a:off x="7226119" y="2880122"/>
            <a:ext cx="851474" cy="215900"/>
          </a:xfrm>
          <a:prstGeom prst="rect">
            <a:avLst/>
          </a:prstGeom>
          <a:noFill/>
          <a:ln/>
        </p:spPr>
        <p:txBody>
          <a:bodyPr wrap="none" lIns="0" tIns="0" rIns="0" bIns="0" rtlCol="0" anchor="t"/>
          <a:lstStyle/>
          <a:p>
            <a:pPr algn="l" indent="0" marL="0">
              <a:lnSpc>
                <a:spcPct val="83000"/>
              </a:lnSpc>
              <a:buNone/>
            </a:pPr>
            <a:r>
              <a:rPr lang="en-US" sz="1700" dirty="0">
                <a:solidFill>
                  <a:srgbClr val="F26B1D"/>
                </a:solidFill>
                <a:latin typeface="Fira Sans SemiBold" pitchFamily="34" charset="0"/>
                <a:ea typeface="Fira Sans SemiBold" pitchFamily="34" charset="-122"/>
                <a:cs typeface="Fira Sans SemiBold" pitchFamily="34" charset="-120"/>
              </a:rPr>
              <a:t>01</a:t>
            </a:r>
            <a:endParaRPr lang="en-US" sz="1700" dirty="0"/>
          </a:p>
        </p:txBody>
      </p:sp>
      <p:sp>
        <p:nvSpPr>
          <p:cNvPr id="9" name="Shape 7"/>
          <p:cNvSpPr/>
          <p:nvPr/>
        </p:nvSpPr>
        <p:spPr>
          <a:xfrm>
            <a:off x="7226119" y="3182342"/>
            <a:ext cx="779840" cy="19050"/>
          </a:xfrm>
          <a:prstGeom prst="rect">
            <a:avLst/>
          </a:prstGeom>
          <a:solidFill>
            <a:srgbClr val="F26B1D"/>
          </a:solidFill>
          <a:ln/>
        </p:spPr>
      </p:sp>
      <p:sp>
        <p:nvSpPr>
          <p:cNvPr id="10" name="Text 8"/>
          <p:cNvSpPr/>
          <p:nvPr/>
        </p:nvSpPr>
        <p:spPr>
          <a:xfrm>
            <a:off x="7226119" y="3330873"/>
            <a:ext cx="779840" cy="321866"/>
          </a:xfrm>
          <a:prstGeom prst="rect">
            <a:avLst/>
          </a:prstGeom>
          <a:noFill/>
          <a:ln/>
        </p:spPr>
        <p:txBody>
          <a:bodyPr wrap="none" lIns="0" tIns="0" rIns="0" bIns="0" rtlCol="0" anchor="t"/>
          <a:lstStyle/>
          <a:p>
            <a:pPr algn="l" indent="0" marL="0">
              <a:lnSpc>
                <a:spcPct val="108000"/>
              </a:lnSpc>
              <a:buNone/>
            </a:pPr>
            <a:r>
              <a:rPr lang="en-US" sz="1950" dirty="0">
                <a:solidFill>
                  <a:srgbClr val="1F2937"/>
                </a:solidFill>
                <a:latin typeface="Fira Sans" pitchFamily="34" charset="0"/>
                <a:ea typeface="Fira Sans" pitchFamily="34" charset="-122"/>
                <a:cs typeface="Fira Sans" pitchFamily="34" charset="-120"/>
              </a:rPr>
              <a:t>Parent</a:t>
            </a:r>
            <a:endParaRPr lang="en-US" sz="1950" dirty="0"/>
          </a:p>
        </p:txBody>
      </p:sp>
      <p:sp>
        <p:nvSpPr>
          <p:cNvPr id="11" name="Text 9"/>
          <p:cNvSpPr/>
          <p:nvPr/>
        </p:nvSpPr>
        <p:spPr>
          <a:xfrm>
            <a:off x="8158256" y="2880122"/>
            <a:ext cx="851474" cy="215900"/>
          </a:xfrm>
          <a:prstGeom prst="rect">
            <a:avLst/>
          </a:prstGeom>
          <a:noFill/>
          <a:ln/>
        </p:spPr>
        <p:txBody>
          <a:bodyPr wrap="none" lIns="0" tIns="0" rIns="0" bIns="0" rtlCol="0" anchor="t"/>
          <a:lstStyle/>
          <a:p>
            <a:pPr algn="l" indent="0" marL="0">
              <a:lnSpc>
                <a:spcPct val="83000"/>
              </a:lnSpc>
              <a:buNone/>
            </a:pPr>
            <a:r>
              <a:rPr lang="en-US" sz="1700" dirty="0">
                <a:solidFill>
                  <a:srgbClr val="F26B1D"/>
                </a:solidFill>
                <a:latin typeface="Fira Sans SemiBold" pitchFamily="34" charset="0"/>
                <a:ea typeface="Fira Sans SemiBold" pitchFamily="34" charset="-122"/>
                <a:cs typeface="Fira Sans SemiBold" pitchFamily="34" charset="-120"/>
              </a:rPr>
              <a:t>02</a:t>
            </a:r>
            <a:endParaRPr lang="en-US" sz="1700" dirty="0"/>
          </a:p>
        </p:txBody>
      </p:sp>
      <p:sp>
        <p:nvSpPr>
          <p:cNvPr id="12" name="Shape 10"/>
          <p:cNvSpPr/>
          <p:nvPr/>
        </p:nvSpPr>
        <p:spPr>
          <a:xfrm>
            <a:off x="8158256" y="3182342"/>
            <a:ext cx="779840" cy="19050"/>
          </a:xfrm>
          <a:prstGeom prst="rect">
            <a:avLst/>
          </a:prstGeom>
          <a:solidFill>
            <a:srgbClr val="F26B1D"/>
          </a:solidFill>
          <a:ln/>
        </p:spPr>
      </p:sp>
      <p:sp>
        <p:nvSpPr>
          <p:cNvPr id="13" name="Text 11"/>
          <p:cNvSpPr/>
          <p:nvPr/>
        </p:nvSpPr>
        <p:spPr>
          <a:xfrm>
            <a:off x="8158256" y="3330873"/>
            <a:ext cx="779840" cy="643731"/>
          </a:xfrm>
          <a:prstGeom prst="rect">
            <a:avLst/>
          </a:prstGeom>
          <a:noFill/>
          <a:ln/>
        </p:spPr>
        <p:txBody>
          <a:bodyPr wrap="square" lIns="0" tIns="0" rIns="0" bIns="0" rtlCol="0" anchor="t">
            <a:normAutofit/>
          </a:bodyPr>
          <a:lstStyle/>
          <a:p>
            <a:pPr algn="l" indent="0" marL="0">
              <a:lnSpc>
                <a:spcPct val="108000"/>
              </a:lnSpc>
              <a:buNone/>
            </a:pPr>
            <a:r>
              <a:rPr lang="en-US" sz="1950" dirty="0">
                <a:solidFill>
                  <a:srgbClr val="1F2937"/>
                </a:solidFill>
                <a:latin typeface="Fira Sans" pitchFamily="34" charset="0"/>
                <a:ea typeface="Fira Sans" pitchFamily="34" charset="-122"/>
                <a:cs typeface="Fira Sans" pitchFamily="34" charset="-120"/>
              </a:rPr>
              <a:t>Creates child</a:t>
            </a:r>
            <a:endParaRPr lang="en-US" sz="1950" dirty="0"/>
          </a:p>
        </p:txBody>
      </p:sp>
      <p:sp>
        <p:nvSpPr>
          <p:cNvPr id="14" name="Text 12"/>
          <p:cNvSpPr/>
          <p:nvPr/>
        </p:nvSpPr>
        <p:spPr>
          <a:xfrm>
            <a:off x="9090393" y="2880122"/>
            <a:ext cx="851474" cy="215900"/>
          </a:xfrm>
          <a:prstGeom prst="rect">
            <a:avLst/>
          </a:prstGeom>
          <a:noFill/>
          <a:ln/>
        </p:spPr>
        <p:txBody>
          <a:bodyPr wrap="none" lIns="0" tIns="0" rIns="0" bIns="0" rtlCol="0" anchor="t"/>
          <a:lstStyle/>
          <a:p>
            <a:pPr algn="l" indent="0" marL="0">
              <a:lnSpc>
                <a:spcPct val="83000"/>
              </a:lnSpc>
              <a:buNone/>
            </a:pPr>
            <a:r>
              <a:rPr lang="en-US" sz="1700" dirty="0">
                <a:solidFill>
                  <a:srgbClr val="F26B1D"/>
                </a:solidFill>
                <a:latin typeface="Fira Sans SemiBold" pitchFamily="34" charset="0"/>
                <a:ea typeface="Fira Sans SemiBold" pitchFamily="34" charset="-122"/>
                <a:cs typeface="Fira Sans SemiBold" pitchFamily="34" charset="-120"/>
              </a:rPr>
              <a:t>03</a:t>
            </a:r>
            <a:endParaRPr lang="en-US" sz="1700" dirty="0"/>
          </a:p>
        </p:txBody>
      </p:sp>
      <p:sp>
        <p:nvSpPr>
          <p:cNvPr id="15" name="Shape 13"/>
          <p:cNvSpPr/>
          <p:nvPr/>
        </p:nvSpPr>
        <p:spPr>
          <a:xfrm>
            <a:off x="9090393" y="3182342"/>
            <a:ext cx="779840" cy="19050"/>
          </a:xfrm>
          <a:prstGeom prst="rect">
            <a:avLst/>
          </a:prstGeom>
          <a:solidFill>
            <a:srgbClr val="F26B1D"/>
          </a:solidFill>
          <a:ln/>
        </p:spPr>
      </p:sp>
      <p:sp>
        <p:nvSpPr>
          <p:cNvPr id="16" name="Text 14"/>
          <p:cNvSpPr/>
          <p:nvPr/>
        </p:nvSpPr>
        <p:spPr>
          <a:xfrm>
            <a:off x="9090393" y="3330873"/>
            <a:ext cx="779840" cy="965597"/>
          </a:xfrm>
          <a:prstGeom prst="rect">
            <a:avLst/>
          </a:prstGeom>
          <a:noFill/>
          <a:ln/>
        </p:spPr>
        <p:txBody>
          <a:bodyPr wrap="square" lIns="0" tIns="0" rIns="0" bIns="0" rtlCol="0" anchor="t">
            <a:normAutofit/>
          </a:bodyPr>
          <a:lstStyle/>
          <a:p>
            <a:pPr algn="l" indent="0" marL="0">
              <a:lnSpc>
                <a:spcPct val="108000"/>
              </a:lnSpc>
              <a:buNone/>
            </a:pPr>
            <a:r>
              <a:rPr lang="en-US" sz="1950" dirty="0">
                <a:solidFill>
                  <a:srgbClr val="1F2937"/>
                </a:solidFill>
                <a:latin typeface="Fira Sans" pitchFamily="34" charset="0"/>
                <a:ea typeface="Fira Sans" pitchFamily="34" charset="-122"/>
                <a:cs typeface="Fira Sans" pitchFamily="34" charset="-120"/>
              </a:rPr>
              <a:t>Child executes</a:t>
            </a:r>
            <a:endParaRPr lang="en-US" sz="1950" dirty="0"/>
          </a:p>
        </p:txBody>
      </p:sp>
      <p:sp>
        <p:nvSpPr>
          <p:cNvPr id="17" name="Text 15"/>
          <p:cNvSpPr/>
          <p:nvPr/>
        </p:nvSpPr>
        <p:spPr>
          <a:xfrm>
            <a:off x="10022530" y="2880122"/>
            <a:ext cx="851474" cy="215900"/>
          </a:xfrm>
          <a:prstGeom prst="rect">
            <a:avLst/>
          </a:prstGeom>
          <a:noFill/>
          <a:ln/>
        </p:spPr>
        <p:txBody>
          <a:bodyPr wrap="none" lIns="0" tIns="0" rIns="0" bIns="0" rtlCol="0" anchor="t"/>
          <a:lstStyle/>
          <a:p>
            <a:pPr algn="l" indent="0" marL="0">
              <a:lnSpc>
                <a:spcPct val="83000"/>
              </a:lnSpc>
              <a:buNone/>
            </a:pPr>
            <a:r>
              <a:rPr lang="en-US" sz="1700" dirty="0">
                <a:solidFill>
                  <a:srgbClr val="F26B1D"/>
                </a:solidFill>
                <a:latin typeface="Fira Sans SemiBold" pitchFamily="34" charset="0"/>
                <a:ea typeface="Fira Sans SemiBold" pitchFamily="34" charset="-122"/>
                <a:cs typeface="Fira Sans SemiBold" pitchFamily="34" charset="-120"/>
              </a:rPr>
              <a:t>04</a:t>
            </a:r>
            <a:endParaRPr lang="en-US" sz="1700" dirty="0"/>
          </a:p>
        </p:txBody>
      </p:sp>
      <p:sp>
        <p:nvSpPr>
          <p:cNvPr id="18" name="Shape 16"/>
          <p:cNvSpPr/>
          <p:nvPr/>
        </p:nvSpPr>
        <p:spPr>
          <a:xfrm>
            <a:off x="10022530" y="3182342"/>
            <a:ext cx="779840" cy="19050"/>
          </a:xfrm>
          <a:prstGeom prst="rect">
            <a:avLst/>
          </a:prstGeom>
          <a:solidFill>
            <a:srgbClr val="F26B1D"/>
          </a:solidFill>
          <a:ln/>
        </p:spPr>
      </p:sp>
      <p:sp>
        <p:nvSpPr>
          <p:cNvPr id="19" name="Text 17"/>
          <p:cNvSpPr/>
          <p:nvPr/>
        </p:nvSpPr>
        <p:spPr>
          <a:xfrm>
            <a:off x="10022530" y="3330873"/>
            <a:ext cx="779840" cy="965597"/>
          </a:xfrm>
          <a:prstGeom prst="rect">
            <a:avLst/>
          </a:prstGeom>
          <a:noFill/>
          <a:ln/>
        </p:spPr>
        <p:txBody>
          <a:bodyPr wrap="square" lIns="0" tIns="0" rIns="0" bIns="0" rtlCol="0" anchor="t">
            <a:normAutofit/>
          </a:bodyPr>
          <a:lstStyle/>
          <a:p>
            <a:pPr algn="l" indent="0" marL="0">
              <a:lnSpc>
                <a:spcPct val="108000"/>
              </a:lnSpc>
              <a:buNone/>
            </a:pPr>
            <a:r>
              <a:rPr lang="en-US" sz="1950" dirty="0">
                <a:solidFill>
                  <a:srgbClr val="1F2937"/>
                </a:solidFill>
                <a:latin typeface="Fira Sans" pitchFamily="34" charset="0"/>
                <a:ea typeface="Fira Sans" pitchFamily="34" charset="-122"/>
                <a:cs typeface="Fira Sans" pitchFamily="34" charset="-120"/>
              </a:rPr>
              <a:t>Child terminates</a:t>
            </a:r>
            <a:endParaRPr lang="en-US" sz="1950" dirty="0"/>
          </a:p>
        </p:txBody>
      </p:sp>
      <p:sp>
        <p:nvSpPr>
          <p:cNvPr id="20" name="Text 18"/>
          <p:cNvSpPr/>
          <p:nvPr/>
        </p:nvSpPr>
        <p:spPr>
          <a:xfrm>
            <a:off x="10954667" y="2880122"/>
            <a:ext cx="851474" cy="215900"/>
          </a:xfrm>
          <a:prstGeom prst="rect">
            <a:avLst/>
          </a:prstGeom>
          <a:noFill/>
          <a:ln/>
        </p:spPr>
        <p:txBody>
          <a:bodyPr wrap="none" lIns="0" tIns="0" rIns="0" bIns="0" rtlCol="0" anchor="t"/>
          <a:lstStyle/>
          <a:p>
            <a:pPr algn="l" indent="0" marL="0">
              <a:lnSpc>
                <a:spcPct val="83000"/>
              </a:lnSpc>
              <a:buNone/>
            </a:pPr>
            <a:r>
              <a:rPr lang="en-US" sz="1700" dirty="0">
                <a:solidFill>
                  <a:srgbClr val="F26B1D"/>
                </a:solidFill>
                <a:latin typeface="Fira Sans SemiBold" pitchFamily="34" charset="0"/>
                <a:ea typeface="Fira Sans SemiBold" pitchFamily="34" charset="-122"/>
                <a:cs typeface="Fira Sans SemiBold" pitchFamily="34" charset="-120"/>
              </a:rPr>
              <a:t>05</a:t>
            </a:r>
            <a:endParaRPr lang="en-US" sz="1700" dirty="0"/>
          </a:p>
        </p:txBody>
      </p:sp>
      <p:sp>
        <p:nvSpPr>
          <p:cNvPr id="21" name="Shape 19"/>
          <p:cNvSpPr/>
          <p:nvPr/>
        </p:nvSpPr>
        <p:spPr>
          <a:xfrm>
            <a:off x="10954667" y="3182342"/>
            <a:ext cx="779840" cy="19050"/>
          </a:xfrm>
          <a:prstGeom prst="rect">
            <a:avLst/>
          </a:prstGeom>
          <a:solidFill>
            <a:srgbClr val="F26B1D"/>
          </a:solidFill>
          <a:ln/>
        </p:spPr>
      </p:sp>
      <p:sp>
        <p:nvSpPr>
          <p:cNvPr id="22" name="Text 20"/>
          <p:cNvSpPr/>
          <p:nvPr/>
        </p:nvSpPr>
        <p:spPr>
          <a:xfrm>
            <a:off x="10954667" y="3330873"/>
            <a:ext cx="779840" cy="1287463"/>
          </a:xfrm>
          <a:prstGeom prst="rect">
            <a:avLst/>
          </a:prstGeom>
          <a:noFill/>
          <a:ln/>
        </p:spPr>
        <p:txBody>
          <a:bodyPr wrap="square" lIns="0" tIns="0" rIns="0" bIns="0" rtlCol="0" anchor="t">
            <a:normAutofit/>
          </a:bodyPr>
          <a:lstStyle/>
          <a:p>
            <a:pPr algn="l" indent="0" marL="0">
              <a:lnSpc>
                <a:spcPct val="108000"/>
              </a:lnSpc>
              <a:buNone/>
            </a:pPr>
            <a:r>
              <a:rPr lang="en-US" sz="1950" dirty="0">
                <a:solidFill>
                  <a:srgbClr val="1F2937"/>
                </a:solidFill>
                <a:latin typeface="Fira Sans" pitchFamily="34" charset="0"/>
                <a:ea typeface="Fira Sans" pitchFamily="34" charset="-122"/>
                <a:cs typeface="Fira Sans" pitchFamily="34" charset="-120"/>
              </a:rPr>
              <a:t>Parent receives status</a:t>
            </a:r>
            <a:endParaRPr lang="en-US" sz="1950" dirty="0"/>
          </a:p>
        </p:txBody>
      </p:sp>
      <p:sp>
        <p:nvSpPr>
          <p:cNvPr id="23" name="Text 21"/>
          <p:cNvSpPr/>
          <p:nvPr/>
        </p:nvSpPr>
        <p:spPr>
          <a:xfrm>
            <a:off x="7226119" y="4796135"/>
            <a:ext cx="4508387" cy="120888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F2937"/>
                </a:solidFill>
                <a:highlight>
                  <a:srgbClr val="F3F5F8"/>
                </a:highlight>
                <a:latin typeface="Consolas" pitchFamily="34" charset="0"/>
                <a:ea typeface="Consolas" pitchFamily="34" charset="-122"/>
                <a:cs typeface="Consolas" pitchFamily="34" charset="-120"/>
              </a:rPr>
              <a:t>fork()</a:t>
            </a:r>
            <a:pPr algn="l" indent="0" marL="0">
              <a:lnSpc>
                <a:spcPct val="117000"/>
              </a:lnSpc>
              <a:buNone/>
            </a:pPr>
            <a:r>
              <a:rPr lang="en-US" sz="1700" dirty="0">
                <a:solidFill>
                  <a:srgbClr val="1F2937"/>
                </a:solidFill>
                <a:latin typeface="Fira Sans" pitchFamily="34" charset="0"/>
                <a:ea typeface="Fira Sans" pitchFamily="34" charset="-122"/>
                <a:cs typeface="Fira Sans" pitchFamily="34" charset="-120"/>
              </a:rPr>
              <a:t> creates the child. The child finishes with </a:t>
            </a:r>
            <a:pPr algn="l" indent="0" marL="0">
              <a:lnSpc>
                <a:spcPct val="117000"/>
              </a:lnSpc>
              <a:buNone/>
            </a:pPr>
            <a:r>
              <a:rPr lang="en-US" sz="1700" dirty="0">
                <a:solidFill>
                  <a:srgbClr val="1F2937"/>
                </a:solidFill>
                <a:highlight>
                  <a:srgbClr val="F3F5F8"/>
                </a:highlight>
                <a:latin typeface="Consolas" pitchFamily="34" charset="0"/>
                <a:ea typeface="Consolas" pitchFamily="34" charset="-122"/>
                <a:cs typeface="Consolas" pitchFamily="34" charset="-120"/>
              </a:rPr>
              <a:t>exit(0)</a:t>
            </a:r>
            <a:pPr algn="l" indent="0" marL="0">
              <a:lnSpc>
                <a:spcPct val="117000"/>
              </a:lnSpc>
              <a:buNone/>
            </a:pPr>
            <a:r>
              <a:rPr lang="en-US" sz="1700" dirty="0">
                <a:solidFill>
                  <a:srgbClr val="1F2937"/>
                </a:solidFill>
                <a:latin typeface="Fira Sans" pitchFamily="34" charset="0"/>
                <a:ea typeface="Fira Sans" pitchFamily="34" charset="-122"/>
                <a:cs typeface="Fira Sans" pitchFamily="34" charset="-120"/>
              </a:rPr>
              <a:t>. The parent blocks in </a:t>
            </a:r>
            <a:pPr algn="l" indent="0" marL="0">
              <a:lnSpc>
                <a:spcPct val="117000"/>
              </a:lnSpc>
              <a:buNone/>
            </a:pPr>
            <a:r>
              <a:rPr lang="en-US" sz="1700" dirty="0">
                <a:solidFill>
                  <a:srgbClr val="1F2937"/>
                </a:solidFill>
                <a:highlight>
                  <a:srgbClr val="F3F5F8"/>
                </a:highlight>
                <a:latin typeface="Consolas" pitchFamily="34" charset="0"/>
                <a:ea typeface="Consolas" pitchFamily="34" charset="-122"/>
                <a:cs typeface="Consolas" pitchFamily="34" charset="-120"/>
              </a:rPr>
              <a:t>wait()</a:t>
            </a:r>
            <a:pPr algn="l" indent="0" marL="0">
              <a:lnSpc>
                <a:spcPct val="117000"/>
              </a:lnSpc>
              <a:buNone/>
            </a:pPr>
            <a:r>
              <a:rPr lang="en-US" sz="1700" dirty="0">
                <a:solidFill>
                  <a:srgbClr val="1F2937"/>
                </a:solidFill>
                <a:latin typeface="Fira Sans" pitchFamily="34" charset="0"/>
                <a:ea typeface="Fira Sans" pitchFamily="34" charset="-122"/>
                <a:cs typeface="Fira Sans" pitchFamily="34" charset="-120"/>
              </a:rPr>
              <a:t>, and </a:t>
            </a:r>
            <a:pPr algn="l" indent="0" marL="0">
              <a:lnSpc>
                <a:spcPct val="117000"/>
              </a:lnSpc>
              <a:buNone/>
            </a:pPr>
            <a:r>
              <a:rPr lang="en-US" sz="1700" dirty="0">
                <a:solidFill>
                  <a:srgbClr val="1F2937"/>
                </a:solidFill>
                <a:highlight>
                  <a:srgbClr val="F3F5F8"/>
                </a:highlight>
                <a:latin typeface="Consolas" pitchFamily="34" charset="0"/>
                <a:ea typeface="Consolas" pitchFamily="34" charset="-122"/>
                <a:cs typeface="Consolas" pitchFamily="34" charset="-120"/>
              </a:rPr>
              <a:t>WIFEXITED(status)</a:t>
            </a:r>
            <a:pPr algn="l" indent="0" marL="0">
              <a:lnSpc>
                <a:spcPct val="117000"/>
              </a:lnSpc>
              <a:buNone/>
            </a:pPr>
            <a:r>
              <a:rPr lang="en-US" sz="1700" dirty="0">
                <a:solidFill>
                  <a:srgbClr val="1F2937"/>
                </a:solidFill>
                <a:latin typeface="Fira Sans" pitchFamily="34" charset="0"/>
                <a:ea typeface="Fira Sans" pitchFamily="34" charset="-122"/>
                <a:cs typeface="Fira Sans" pitchFamily="34" charset="-120"/>
              </a:rPr>
              <a:t> confirms normal termination.</a:t>
            </a:r>
            <a:endParaRPr lang="en-US" sz="1700" dirty="0"/>
          </a:p>
        </p:txBody>
      </p:sp>
      <p:sp>
        <p:nvSpPr>
          <p:cNvPr id="24" name="Text 22"/>
          <p:cNvSpPr/>
          <p:nvPr/>
        </p:nvSpPr>
        <p:spPr>
          <a:xfrm>
            <a:off x="11656225" y="6531570"/>
            <a:ext cx="535470" cy="195560"/>
          </a:xfrm>
          <a:prstGeom prst="rect">
            <a:avLst/>
          </a:prstGeom>
          <a:noFill/>
          <a:ln/>
        </p:spPr>
        <p:txBody>
          <a:bodyPr wrap="none" lIns="0" tIns="0" rIns="0" bIns="0" rtlCol="0" anchor="ctr"/>
          <a:lstStyle/>
          <a:p>
            <a:pPr algn="l" indent="0" marL="0">
              <a:lnSpc>
                <a:spcPct val="117000"/>
              </a:lnSpc>
              <a:buNone/>
            </a:pPr>
            <a:r>
              <a:rPr lang="en-US" sz="1100" dirty="0">
                <a:solidFill>
                  <a:srgbClr val="1F2937"/>
                </a:solidFill>
                <a:latin typeface="Fira Sans" pitchFamily="34" charset="0"/>
                <a:ea typeface="Fira Sans" pitchFamily="34" charset="-122"/>
                <a:cs typeface="Fira Sans"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189" y="457200"/>
            <a:ext cx="11734506" cy="302220"/>
          </a:xfrm>
          <a:prstGeom prst="rect">
            <a:avLst/>
          </a:prstGeom>
          <a:noFill/>
          <a:ln/>
        </p:spPr>
        <p:txBody>
          <a:bodyPr wrap="none" lIns="0" tIns="0" rIns="0" bIns="0" rtlCol="0" anchor="t"/>
          <a:lstStyle/>
          <a:p>
            <a:pPr algn="l" indent="0" marL="0">
              <a:lnSpc>
                <a:spcPct val="117000"/>
              </a:lnSpc>
              <a:buNone/>
            </a:pPr>
            <a:r>
              <a:rPr lang="en-US" sz="1700" spc="34" kern="0" dirty="0">
                <a:solidFill>
                  <a:srgbClr val="1F2937"/>
                </a:solidFill>
                <a:latin typeface="Fira Mono" pitchFamily="34" charset="0"/>
                <a:ea typeface="Fira Mono" pitchFamily="34" charset="-122"/>
                <a:cs typeface="Fira Mono" pitchFamily="34" charset="-120"/>
              </a:rPr>
              <a:t>PRACTICAL BOUNDARIES</a:t>
            </a:r>
            <a:endParaRPr lang="en-US" sz="1700" dirty="0"/>
          </a:p>
        </p:txBody>
      </p:sp>
      <p:sp>
        <p:nvSpPr>
          <p:cNvPr id="3" name="Text 1"/>
          <p:cNvSpPr/>
          <p:nvPr/>
        </p:nvSpPr>
        <p:spPr>
          <a:xfrm>
            <a:off x="457189" y="1194395"/>
            <a:ext cx="11277318" cy="408880"/>
          </a:xfrm>
          <a:prstGeom prst="rect">
            <a:avLst/>
          </a:prstGeom>
          <a:noFill/>
          <a:ln/>
        </p:spPr>
        <p:txBody>
          <a:bodyPr wrap="none" lIns="0" tIns="0" rIns="0" bIns="0" rtlCol="0" anchor="t"/>
          <a:lstStyle/>
          <a:p>
            <a:pPr algn="l" indent="0" marL="0">
              <a:lnSpc>
                <a:spcPct val="96000"/>
              </a:lnSpc>
              <a:buNone/>
            </a:pPr>
            <a:r>
              <a:rPr lang="en-US" sz="2800" spc="-28" kern="0" dirty="0">
                <a:solidFill>
                  <a:srgbClr val="1F2937"/>
                </a:solidFill>
                <a:latin typeface="Fira Sans SemiBold" pitchFamily="34" charset="0"/>
                <a:ea typeface="Fira Sans SemiBold" pitchFamily="34" charset="-122"/>
                <a:cs typeface="Fira Sans SemiBold" pitchFamily="34" charset="-120"/>
              </a:rPr>
              <a:t>Better lifecycle control, with practical boundaries</a:t>
            </a:r>
            <a:endParaRPr lang="en-US" sz="2800" dirty="0"/>
          </a:p>
        </p:txBody>
      </p:sp>
      <p:sp>
        <p:nvSpPr>
          <p:cNvPr id="4" name="Shape 2"/>
          <p:cNvSpPr/>
          <p:nvPr/>
        </p:nvSpPr>
        <p:spPr>
          <a:xfrm>
            <a:off x="457189" y="1857276"/>
            <a:ext cx="3555911" cy="4494808"/>
          </a:xfrm>
          <a:prstGeom prst="roundRect">
            <a:avLst>
              <a:gd name="adj" fmla="val 321"/>
            </a:avLst>
          </a:prstGeom>
          <a:solidFill>
            <a:srgbClr val="F9F7F7"/>
          </a:solidFill>
          <a:ln/>
        </p:spPr>
      </p:sp>
      <p:sp>
        <p:nvSpPr>
          <p:cNvPr id="5" name="Text 3"/>
          <p:cNvSpPr/>
          <p:nvPr/>
        </p:nvSpPr>
        <p:spPr>
          <a:xfrm>
            <a:off x="736582" y="2162076"/>
            <a:ext cx="3606710" cy="302220"/>
          </a:xfrm>
          <a:prstGeom prst="rect">
            <a:avLst/>
          </a:prstGeom>
          <a:noFill/>
          <a:ln/>
        </p:spPr>
        <p:txBody>
          <a:bodyPr wrap="none" lIns="0" tIns="0" rIns="0" bIns="0" rtlCol="0" anchor="t"/>
          <a:lstStyle/>
          <a:p>
            <a:pPr algn="l" indent="0" marL="0">
              <a:lnSpc>
                <a:spcPct val="117000"/>
              </a:lnSpc>
              <a:buNone/>
            </a:pPr>
            <a:r>
              <a:rPr lang="en-US" sz="1700" spc="34" kern="0" dirty="0">
                <a:solidFill>
                  <a:srgbClr val="1F2937"/>
                </a:solidFill>
                <a:latin typeface="Fira Mono" pitchFamily="34" charset="0"/>
                <a:ea typeface="Fira Mono" pitchFamily="34" charset="-122"/>
                <a:cs typeface="Fira Mono" pitchFamily="34" charset="-120"/>
              </a:rPr>
              <a:t>ADVANTAGES</a:t>
            </a:r>
            <a:endParaRPr lang="en-US" sz="1700" dirty="0"/>
          </a:p>
        </p:txBody>
      </p:sp>
      <p:sp>
        <p:nvSpPr>
          <p:cNvPr id="6" name="Shape 4"/>
          <p:cNvSpPr/>
          <p:nvPr/>
        </p:nvSpPr>
        <p:spPr>
          <a:xfrm>
            <a:off x="736582" y="2806799"/>
            <a:ext cx="118663" cy="118666"/>
          </a:xfrm>
          <a:prstGeom prst="ellipse">
            <a:avLst/>
          </a:prstGeom>
          <a:solidFill>
            <a:srgbClr val="F26B1D"/>
          </a:solidFill>
          <a:ln/>
        </p:spPr>
      </p:sp>
      <p:sp>
        <p:nvSpPr>
          <p:cNvPr id="7" name="Text 5"/>
          <p:cNvSpPr/>
          <p:nvPr/>
        </p:nvSpPr>
        <p:spPr>
          <a:xfrm>
            <a:off x="1071139" y="2715121"/>
            <a:ext cx="2662568" cy="60444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F2937"/>
                </a:solidFill>
                <a:latin typeface="Fira Sans" pitchFamily="34" charset="0"/>
                <a:ea typeface="Fira Sans" pitchFamily="34" charset="-122"/>
                <a:cs typeface="Fira Sans" pitchFamily="34" charset="-120"/>
              </a:rPr>
              <a:t>Better resource management</a:t>
            </a:r>
            <a:endParaRPr lang="en-US" sz="1700" dirty="0"/>
          </a:p>
        </p:txBody>
      </p:sp>
      <p:sp>
        <p:nvSpPr>
          <p:cNvPr id="8" name="Shape 6"/>
          <p:cNvSpPr/>
          <p:nvPr/>
        </p:nvSpPr>
        <p:spPr>
          <a:xfrm>
            <a:off x="736582" y="3614440"/>
            <a:ext cx="118663" cy="118666"/>
          </a:xfrm>
          <a:prstGeom prst="ellipse">
            <a:avLst/>
          </a:prstGeom>
          <a:solidFill>
            <a:srgbClr val="F26B1D"/>
          </a:solidFill>
          <a:ln/>
        </p:spPr>
      </p:sp>
      <p:sp>
        <p:nvSpPr>
          <p:cNvPr id="9" name="Text 7"/>
          <p:cNvSpPr/>
          <p:nvPr/>
        </p:nvSpPr>
        <p:spPr>
          <a:xfrm>
            <a:off x="1071139" y="3522762"/>
            <a:ext cx="3272153" cy="302220"/>
          </a:xfrm>
          <a:prstGeom prst="rect">
            <a:avLst/>
          </a:prstGeom>
          <a:noFill/>
          <a:ln/>
        </p:spPr>
        <p:txBody>
          <a:bodyPr wrap="none" lIns="0" tIns="0" rIns="0" bIns="0" rtlCol="0" anchor="t"/>
          <a:lstStyle/>
          <a:p>
            <a:pPr algn="l" indent="0" marL="0">
              <a:lnSpc>
                <a:spcPct val="117000"/>
              </a:lnSpc>
              <a:buNone/>
            </a:pPr>
            <a:r>
              <a:rPr lang="en-US" sz="1700" dirty="0">
                <a:solidFill>
                  <a:srgbClr val="1F2937"/>
                </a:solidFill>
                <a:latin typeface="Fira Sans" pitchFamily="34" charset="0"/>
                <a:ea typeface="Fira Sans" pitchFamily="34" charset="-122"/>
                <a:cs typeface="Fira Sans" pitchFamily="34" charset="-120"/>
              </a:rPr>
              <a:t>Fewer zombie processes</a:t>
            </a:r>
            <a:endParaRPr lang="en-US" sz="1700" dirty="0"/>
          </a:p>
        </p:txBody>
      </p:sp>
      <p:sp>
        <p:nvSpPr>
          <p:cNvPr id="10" name="Shape 8"/>
          <p:cNvSpPr/>
          <p:nvPr/>
        </p:nvSpPr>
        <p:spPr>
          <a:xfrm>
            <a:off x="736582" y="4119860"/>
            <a:ext cx="118663" cy="118666"/>
          </a:xfrm>
          <a:prstGeom prst="ellipse">
            <a:avLst/>
          </a:prstGeom>
          <a:solidFill>
            <a:srgbClr val="F26B1D"/>
          </a:solidFill>
          <a:ln/>
        </p:spPr>
      </p:sp>
      <p:sp>
        <p:nvSpPr>
          <p:cNvPr id="11" name="Text 9"/>
          <p:cNvSpPr/>
          <p:nvPr/>
        </p:nvSpPr>
        <p:spPr>
          <a:xfrm>
            <a:off x="1071139" y="4028182"/>
            <a:ext cx="2662568" cy="60444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F2937"/>
                </a:solidFill>
                <a:latin typeface="Fira Sans" pitchFamily="34" charset="0"/>
                <a:ea typeface="Fira Sans" pitchFamily="34" charset="-122"/>
                <a:cs typeface="Fira Sans" pitchFamily="34" charset="-120"/>
              </a:rPr>
              <a:t>Clearer process synchronization</a:t>
            </a:r>
            <a:endParaRPr lang="en-US" sz="1700" dirty="0"/>
          </a:p>
        </p:txBody>
      </p:sp>
      <p:sp>
        <p:nvSpPr>
          <p:cNvPr id="12" name="Shape 10"/>
          <p:cNvSpPr/>
          <p:nvPr/>
        </p:nvSpPr>
        <p:spPr>
          <a:xfrm>
            <a:off x="736582" y="4927501"/>
            <a:ext cx="118663" cy="118666"/>
          </a:xfrm>
          <a:prstGeom prst="ellipse">
            <a:avLst/>
          </a:prstGeom>
          <a:solidFill>
            <a:srgbClr val="F26B1D"/>
          </a:solidFill>
          <a:ln/>
        </p:spPr>
      </p:sp>
      <p:sp>
        <p:nvSpPr>
          <p:cNvPr id="13" name="Text 11"/>
          <p:cNvSpPr/>
          <p:nvPr/>
        </p:nvSpPr>
        <p:spPr>
          <a:xfrm>
            <a:off x="1071139" y="4835823"/>
            <a:ext cx="2662568" cy="60444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F2937"/>
                </a:solidFill>
                <a:latin typeface="Fira Sans" pitchFamily="34" charset="0"/>
                <a:ea typeface="Fira Sans" pitchFamily="34" charset="-122"/>
                <a:cs typeface="Fira Sans" pitchFamily="34" charset="-120"/>
              </a:rPr>
              <a:t>Useful termination information</a:t>
            </a:r>
            <a:endParaRPr lang="en-US" sz="1700" dirty="0"/>
          </a:p>
        </p:txBody>
      </p:sp>
      <p:sp>
        <p:nvSpPr>
          <p:cNvPr id="14" name="Shape 12"/>
          <p:cNvSpPr/>
          <p:nvPr/>
        </p:nvSpPr>
        <p:spPr>
          <a:xfrm>
            <a:off x="736582" y="5735141"/>
            <a:ext cx="118663" cy="118666"/>
          </a:xfrm>
          <a:prstGeom prst="ellipse">
            <a:avLst/>
          </a:prstGeom>
          <a:solidFill>
            <a:srgbClr val="F26B1D"/>
          </a:solidFill>
          <a:ln/>
        </p:spPr>
      </p:sp>
      <p:sp>
        <p:nvSpPr>
          <p:cNvPr id="15" name="Text 13"/>
          <p:cNvSpPr/>
          <p:nvPr/>
        </p:nvSpPr>
        <p:spPr>
          <a:xfrm>
            <a:off x="1071139" y="5643463"/>
            <a:ext cx="3272153" cy="302220"/>
          </a:xfrm>
          <a:prstGeom prst="rect">
            <a:avLst/>
          </a:prstGeom>
          <a:noFill/>
          <a:ln/>
        </p:spPr>
        <p:txBody>
          <a:bodyPr wrap="none" lIns="0" tIns="0" rIns="0" bIns="0" rtlCol="0" anchor="t"/>
          <a:lstStyle/>
          <a:p>
            <a:pPr algn="l" indent="0" marL="0">
              <a:lnSpc>
                <a:spcPct val="117000"/>
              </a:lnSpc>
              <a:buNone/>
            </a:pPr>
            <a:r>
              <a:rPr lang="en-US" sz="1700" dirty="0">
                <a:solidFill>
                  <a:srgbClr val="1F2937"/>
                </a:solidFill>
                <a:latin typeface="Fira Sans" pitchFamily="34" charset="0"/>
                <a:ea typeface="Fira Sans" pitchFamily="34" charset="-122"/>
                <a:cs typeface="Fira Sans" pitchFamily="34" charset="-120"/>
              </a:rPr>
              <a:t>Improved system stability</a:t>
            </a:r>
            <a:endParaRPr lang="en-US" sz="1700" dirty="0"/>
          </a:p>
        </p:txBody>
      </p:sp>
      <p:sp>
        <p:nvSpPr>
          <p:cNvPr id="16" name="Shape 14"/>
          <p:cNvSpPr/>
          <p:nvPr/>
        </p:nvSpPr>
        <p:spPr>
          <a:xfrm>
            <a:off x="4317892" y="1857276"/>
            <a:ext cx="3555911" cy="4494808"/>
          </a:xfrm>
          <a:prstGeom prst="roundRect">
            <a:avLst>
              <a:gd name="adj" fmla="val 321"/>
            </a:avLst>
          </a:prstGeom>
          <a:noFill/>
          <a:ln w="25399">
            <a:solidFill>
              <a:srgbClr val="D8D4D4"/>
            </a:solidFill>
            <a:prstDash val="solid"/>
          </a:ln>
        </p:spPr>
      </p:sp>
      <p:sp>
        <p:nvSpPr>
          <p:cNvPr id="17" name="Text 15"/>
          <p:cNvSpPr/>
          <p:nvPr/>
        </p:nvSpPr>
        <p:spPr>
          <a:xfrm>
            <a:off x="4622684" y="2187476"/>
            <a:ext cx="3555911" cy="302220"/>
          </a:xfrm>
          <a:prstGeom prst="rect">
            <a:avLst/>
          </a:prstGeom>
          <a:noFill/>
          <a:ln/>
        </p:spPr>
        <p:txBody>
          <a:bodyPr wrap="none" lIns="0" tIns="0" rIns="0" bIns="0" rtlCol="0" anchor="t"/>
          <a:lstStyle/>
          <a:p>
            <a:pPr algn="l" indent="0" marL="0">
              <a:lnSpc>
                <a:spcPct val="117000"/>
              </a:lnSpc>
              <a:buNone/>
            </a:pPr>
            <a:r>
              <a:rPr lang="en-US" sz="1700" spc="34" kern="0" dirty="0">
                <a:solidFill>
                  <a:srgbClr val="1F2937"/>
                </a:solidFill>
                <a:latin typeface="Fira Mono" pitchFamily="34" charset="0"/>
                <a:ea typeface="Fira Mono" pitchFamily="34" charset="-122"/>
                <a:cs typeface="Fira Mono" pitchFamily="34" charset="-120"/>
              </a:rPr>
              <a:t>LIMITATIONS</a:t>
            </a:r>
            <a:endParaRPr lang="en-US" sz="1700" dirty="0"/>
          </a:p>
        </p:txBody>
      </p:sp>
      <p:sp>
        <p:nvSpPr>
          <p:cNvPr id="18" name="Text 16"/>
          <p:cNvSpPr/>
          <p:nvPr/>
        </p:nvSpPr>
        <p:spPr>
          <a:xfrm>
            <a:off x="4622684" y="2791321"/>
            <a:ext cx="2946326" cy="60444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F2937"/>
                </a:solidFill>
                <a:latin typeface="Fira Sans" pitchFamily="34" charset="0"/>
                <a:ea typeface="Fira Sans" pitchFamily="34" charset="-122"/>
                <a:cs typeface="Fira Sans" pitchFamily="34" charset="-120"/>
              </a:rPr>
              <a:t>Behavior and available APIs can vary by operating system.</a:t>
            </a:r>
            <a:endParaRPr lang="en-US" sz="1700" dirty="0"/>
          </a:p>
        </p:txBody>
      </p:sp>
      <p:sp>
        <p:nvSpPr>
          <p:cNvPr id="19" name="Text 17"/>
          <p:cNvSpPr/>
          <p:nvPr/>
        </p:nvSpPr>
        <p:spPr>
          <a:xfrm>
            <a:off x="4622684" y="3700562"/>
            <a:ext cx="2946326" cy="60444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F2937"/>
                </a:solidFill>
                <a:latin typeface="Fira Sans" pitchFamily="34" charset="0"/>
                <a:ea typeface="Fira Sans" pitchFamily="34" charset="-122"/>
                <a:cs typeface="Fira Sans" pitchFamily="34" charset="-120"/>
              </a:rPr>
              <a:t>Improper synchronization creates races or stale state.</a:t>
            </a:r>
            <a:endParaRPr lang="en-US" sz="1700" dirty="0"/>
          </a:p>
        </p:txBody>
      </p:sp>
      <p:sp>
        <p:nvSpPr>
          <p:cNvPr id="20" name="Shape 18"/>
          <p:cNvSpPr/>
          <p:nvPr/>
        </p:nvSpPr>
        <p:spPr>
          <a:xfrm>
            <a:off x="8178595" y="1857276"/>
            <a:ext cx="3555911" cy="4494808"/>
          </a:xfrm>
          <a:prstGeom prst="rect">
            <a:avLst/>
          </a:prstGeom>
          <a:solidFill>
            <a:srgbClr val="2B3544"/>
          </a:solidFill>
          <a:ln/>
        </p:spPr>
      </p:sp>
      <p:sp>
        <p:nvSpPr>
          <p:cNvPr id="21" name="Text 19"/>
          <p:cNvSpPr/>
          <p:nvPr/>
        </p:nvSpPr>
        <p:spPr>
          <a:xfrm>
            <a:off x="8457988" y="2162076"/>
            <a:ext cx="3606710" cy="302220"/>
          </a:xfrm>
          <a:prstGeom prst="rect">
            <a:avLst/>
          </a:prstGeom>
          <a:noFill/>
          <a:ln/>
        </p:spPr>
        <p:txBody>
          <a:bodyPr wrap="none" lIns="0" tIns="0" rIns="0" bIns="0" rtlCol="0" anchor="t"/>
          <a:lstStyle/>
          <a:p>
            <a:pPr algn="l" indent="0" marL="0">
              <a:lnSpc>
                <a:spcPct val="117000"/>
              </a:lnSpc>
              <a:buNone/>
            </a:pPr>
            <a:r>
              <a:rPr lang="en-US" sz="1700" spc="34" kern="0" dirty="0">
                <a:solidFill>
                  <a:srgbClr val="94A1B3"/>
                </a:solidFill>
                <a:latin typeface="Fira Mono" pitchFamily="34" charset="0"/>
                <a:ea typeface="Fira Mono" pitchFamily="34" charset="-122"/>
                <a:cs typeface="Fira Mono" pitchFamily="34" charset="-120"/>
              </a:rPr>
              <a:t>APPLICATIONS</a:t>
            </a:r>
            <a:endParaRPr lang="en-US" sz="1700" dirty="0"/>
          </a:p>
        </p:txBody>
      </p:sp>
      <p:sp>
        <p:nvSpPr>
          <p:cNvPr id="22" name="Text 20"/>
          <p:cNvSpPr/>
          <p:nvPr/>
        </p:nvSpPr>
        <p:spPr>
          <a:xfrm>
            <a:off x="8457988" y="3464421"/>
            <a:ext cx="2997125" cy="1119981"/>
          </a:xfrm>
          <a:prstGeom prst="rect">
            <a:avLst/>
          </a:prstGeom>
          <a:noFill/>
          <a:ln/>
        </p:spPr>
        <p:txBody>
          <a:bodyPr wrap="square" lIns="0" tIns="0" rIns="0" bIns="0" rtlCol="0" anchor="t">
            <a:normAutofit/>
          </a:bodyPr>
          <a:lstStyle/>
          <a:p>
            <a:pPr algn="l" indent="0" marL="0">
              <a:lnSpc>
                <a:spcPct val="87000"/>
              </a:lnSpc>
              <a:buNone/>
            </a:pPr>
            <a:r>
              <a:rPr lang="en-US" sz="4200" spc="-63" kern="0" dirty="0">
                <a:solidFill>
                  <a:srgbClr val="E5EAF2"/>
                </a:solidFill>
                <a:latin typeface="Fira Sans SemiBold" pitchFamily="34" charset="0"/>
                <a:ea typeface="Fira Sans SemiBold" pitchFamily="34" charset="-122"/>
                <a:cs typeface="Fira Sans SemiBold" pitchFamily="34" charset="-120"/>
              </a:rPr>
              <a:t>Observe</a:t>
            </a:r>
            <a:endParaRPr lang="en-US" sz="4200" dirty="0"/>
          </a:p>
          <a:p>
            <a:pPr algn="l" indent="0" marL="0">
              <a:lnSpc>
                <a:spcPct val="87000"/>
              </a:lnSpc>
              <a:buNone/>
            </a:pPr>
            <a:r>
              <a:rPr lang="en-US" sz="4200" spc="-63" kern="0" dirty="0">
                <a:solidFill>
                  <a:srgbClr val="E5EAF2"/>
                </a:solidFill>
                <a:latin typeface="Fira Sans SemiBold" pitchFamily="34" charset="0"/>
                <a:ea typeface="Fira Sans SemiBold" pitchFamily="34" charset="-122"/>
                <a:cs typeface="Fira Sans SemiBold" pitchFamily="34" charset="-120"/>
              </a:rPr>
              <a:t>the lifecycle.</a:t>
            </a:r>
            <a:endParaRPr lang="en-US" sz="4200" dirty="0"/>
          </a:p>
        </p:txBody>
      </p:sp>
      <p:sp>
        <p:nvSpPr>
          <p:cNvPr id="23" name="Text 21"/>
          <p:cNvSpPr/>
          <p:nvPr/>
        </p:nvSpPr>
        <p:spPr>
          <a:xfrm>
            <a:off x="8457988" y="4838402"/>
            <a:ext cx="2997125" cy="120888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E5EAF2"/>
                </a:solidFill>
                <a:latin typeface="Fira Sans" pitchFamily="34" charset="0"/>
                <a:ea typeface="Fira Sans" pitchFamily="34" charset="-122"/>
                <a:cs typeface="Fira Sans" pitchFamily="34" charset="-120"/>
              </a:rPr>
              <a:t>Operating systems, servers, background processes, process monitoring, and debugging systems.</a:t>
            </a:r>
            <a:endParaRPr lang="en-US" sz="1700" dirty="0"/>
          </a:p>
        </p:txBody>
      </p:sp>
      <p:sp>
        <p:nvSpPr>
          <p:cNvPr id="24" name="Shape 22"/>
          <p:cNvSpPr/>
          <p:nvPr/>
        </p:nvSpPr>
        <p:spPr>
          <a:xfrm>
            <a:off x="736582" y="3414812"/>
            <a:ext cx="2997125" cy="12700"/>
          </a:xfrm>
          <a:prstGeom prst="rect">
            <a:avLst/>
          </a:prstGeom>
          <a:solidFill>
            <a:srgbClr val="CBD3DE"/>
          </a:solidFill>
          <a:ln/>
        </p:spPr>
      </p:sp>
      <p:sp>
        <p:nvSpPr>
          <p:cNvPr id="25" name="Shape 23"/>
          <p:cNvSpPr/>
          <p:nvPr/>
        </p:nvSpPr>
        <p:spPr>
          <a:xfrm>
            <a:off x="736582" y="3920232"/>
            <a:ext cx="2997125" cy="12700"/>
          </a:xfrm>
          <a:prstGeom prst="rect">
            <a:avLst/>
          </a:prstGeom>
          <a:solidFill>
            <a:srgbClr val="CBD3DE"/>
          </a:solidFill>
          <a:ln/>
        </p:spPr>
      </p:sp>
      <p:sp>
        <p:nvSpPr>
          <p:cNvPr id="26" name="Shape 24"/>
          <p:cNvSpPr/>
          <p:nvPr/>
        </p:nvSpPr>
        <p:spPr>
          <a:xfrm>
            <a:off x="736582" y="4727873"/>
            <a:ext cx="2997125" cy="12700"/>
          </a:xfrm>
          <a:prstGeom prst="rect">
            <a:avLst/>
          </a:prstGeom>
          <a:solidFill>
            <a:srgbClr val="CBD3DE"/>
          </a:solidFill>
          <a:ln/>
        </p:spPr>
      </p:sp>
      <p:sp>
        <p:nvSpPr>
          <p:cNvPr id="27" name="Shape 25"/>
          <p:cNvSpPr/>
          <p:nvPr/>
        </p:nvSpPr>
        <p:spPr>
          <a:xfrm>
            <a:off x="736582" y="5535513"/>
            <a:ext cx="2997125" cy="12700"/>
          </a:xfrm>
          <a:prstGeom prst="rect">
            <a:avLst/>
          </a:prstGeom>
          <a:solidFill>
            <a:srgbClr val="CBD3DE"/>
          </a:solidFill>
          <a:ln/>
        </p:spPr>
      </p:sp>
      <p:sp>
        <p:nvSpPr>
          <p:cNvPr id="28" name="Shape 26"/>
          <p:cNvSpPr/>
          <p:nvPr/>
        </p:nvSpPr>
        <p:spPr>
          <a:xfrm>
            <a:off x="4622684" y="3541812"/>
            <a:ext cx="2946326" cy="12700"/>
          </a:xfrm>
          <a:prstGeom prst="rect">
            <a:avLst/>
          </a:prstGeom>
          <a:solidFill>
            <a:srgbClr val="CBD3DE"/>
          </a:solidFill>
          <a:ln/>
        </p:spPr>
      </p:sp>
      <p:sp>
        <p:nvSpPr>
          <p:cNvPr id="29" name="Text 27"/>
          <p:cNvSpPr/>
          <p:nvPr/>
        </p:nvSpPr>
        <p:spPr>
          <a:xfrm>
            <a:off x="11656225" y="6531570"/>
            <a:ext cx="535470" cy="195560"/>
          </a:xfrm>
          <a:prstGeom prst="rect">
            <a:avLst/>
          </a:prstGeom>
          <a:noFill/>
          <a:ln/>
        </p:spPr>
        <p:txBody>
          <a:bodyPr wrap="none" lIns="0" tIns="0" rIns="0" bIns="0" rtlCol="0" anchor="ctr"/>
          <a:lstStyle/>
          <a:p>
            <a:pPr algn="l" indent="0" marL="0">
              <a:lnSpc>
                <a:spcPct val="117000"/>
              </a:lnSpc>
              <a:buNone/>
            </a:pPr>
            <a:r>
              <a:rPr lang="en-US" sz="1100" dirty="0">
                <a:solidFill>
                  <a:srgbClr val="1F2937"/>
                </a:solidFill>
                <a:latin typeface="Fira Sans" pitchFamily="34" charset="0"/>
                <a:ea typeface="Fira Sans" pitchFamily="34" charset="-122"/>
                <a:cs typeface="Fira Sans"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812780" cy="6858000"/>
          </a:xfrm>
          <a:custGeom>
            <a:avLst/>
            <a:gdLst/>
            <a:ahLst/>
            <a:cxnLst/>
            <a:rect l="l" t="t" r="r" b="b"/>
            <a:pathLst>
              <a:path w="812780" h="6858000">
                <a:moveTo>
                  <a:pt x="26991" y="0"/>
                </a:moveTo>
                <a:lnTo>
                  <a:pt x="812780" y="0"/>
                </a:lnTo>
                <a:lnTo>
                  <a:pt x="812780" y="6858000"/>
                </a:lnTo>
                <a:lnTo>
                  <a:pt x="26991" y="6858000"/>
                </a:lnTo>
                <a:arcTo hR="26991" wR="26991" stAng="5400000" swAng="5400000"/>
                <a:lnTo>
                  <a:pt x="0" y="26991"/>
                </a:lnTo>
                <a:arcTo hR="26991" wR="26991" stAng="10800000" swAng="5400000"/>
                <a:close/>
              </a:path>
            </a:pathLst>
          </a:custGeom>
          <a:solidFill>
            <a:srgbClr val="F26B1D"/>
          </a:solidFill>
          <a:ln/>
        </p:spPr>
      </p:sp>
      <p:sp>
        <p:nvSpPr>
          <p:cNvPr id="3" name="Text 1"/>
          <p:cNvSpPr/>
          <p:nvPr/>
        </p:nvSpPr>
        <p:spPr>
          <a:xfrm>
            <a:off x="1371566" y="355600"/>
            <a:ext cx="10820129" cy="302220"/>
          </a:xfrm>
          <a:prstGeom prst="rect">
            <a:avLst/>
          </a:prstGeom>
          <a:noFill/>
          <a:ln/>
        </p:spPr>
        <p:txBody>
          <a:bodyPr wrap="none" lIns="0" tIns="0" rIns="0" bIns="0" rtlCol="0" anchor="t"/>
          <a:lstStyle/>
          <a:p>
            <a:pPr algn="l" indent="0" marL="0">
              <a:lnSpc>
                <a:spcPct val="117000"/>
              </a:lnSpc>
              <a:buNone/>
            </a:pPr>
            <a:r>
              <a:rPr lang="en-US" sz="1700" spc="34" kern="0" dirty="0">
                <a:solidFill>
                  <a:srgbClr val="1F2937"/>
                </a:solidFill>
                <a:latin typeface="Fira Mono" pitchFamily="34" charset="0"/>
                <a:ea typeface="Fira Mono" pitchFamily="34" charset="-122"/>
                <a:cs typeface="Fira Mono" pitchFamily="34" charset="-120"/>
              </a:rPr>
              <a:t>FINAL TAKEAWAY</a:t>
            </a:r>
            <a:endParaRPr lang="en-US" sz="1700" dirty="0"/>
          </a:p>
        </p:txBody>
      </p:sp>
      <p:sp>
        <p:nvSpPr>
          <p:cNvPr id="4" name="Text 2"/>
          <p:cNvSpPr/>
          <p:nvPr/>
        </p:nvSpPr>
        <p:spPr>
          <a:xfrm>
            <a:off x="1371566" y="1092795"/>
            <a:ext cx="10261343" cy="934641"/>
          </a:xfrm>
          <a:prstGeom prst="rect">
            <a:avLst/>
          </a:prstGeom>
          <a:noFill/>
          <a:ln/>
        </p:spPr>
        <p:txBody>
          <a:bodyPr wrap="square" lIns="0" tIns="0" rIns="0" bIns="0" rtlCol="0" anchor="t">
            <a:normAutofit/>
          </a:bodyPr>
          <a:lstStyle/>
          <a:p>
            <a:pPr algn="l" indent="0" marL="0">
              <a:lnSpc>
                <a:spcPct val="96000"/>
              </a:lnSpc>
              <a:buNone/>
            </a:pPr>
            <a:r>
              <a:rPr lang="en-US" sz="3200" spc="-32" kern="0" dirty="0">
                <a:solidFill>
                  <a:srgbClr val="1F2937"/>
                </a:solidFill>
                <a:latin typeface="Fira Sans SemiBold" pitchFamily="34" charset="0"/>
                <a:ea typeface="Fira Sans SemiBold" pitchFamily="34" charset="-122"/>
                <a:cs typeface="Fira Sans SemiBold" pitchFamily="34" charset="-120"/>
              </a:rPr>
              <a:t>Proper termination makes process management observable.</a:t>
            </a:r>
            <a:endParaRPr lang="en-US" sz="3200" dirty="0"/>
          </a:p>
        </p:txBody>
      </p:sp>
      <p:sp>
        <p:nvSpPr>
          <p:cNvPr id="5" name="Text 3"/>
          <p:cNvSpPr/>
          <p:nvPr/>
        </p:nvSpPr>
        <p:spPr>
          <a:xfrm>
            <a:off x="1371566" y="2281436"/>
            <a:ext cx="2539936" cy="206375"/>
          </a:xfrm>
          <a:prstGeom prst="rect">
            <a:avLst/>
          </a:prstGeom>
          <a:noFill/>
          <a:ln/>
        </p:spPr>
        <p:txBody>
          <a:bodyPr wrap="none" lIns="0" tIns="0" rIns="0" bIns="0" rtlCol="0" anchor="t"/>
          <a:lstStyle/>
          <a:p>
            <a:pPr algn="l" indent="0" marL="0">
              <a:lnSpc>
                <a:spcPct val="108000"/>
              </a:lnSpc>
              <a:buNone/>
            </a:pPr>
            <a:r>
              <a:rPr lang="en-US" sz="1250" dirty="0">
                <a:solidFill>
                  <a:srgbClr val="5B6577"/>
                </a:solidFill>
                <a:latin typeface="Fira Sans" pitchFamily="34" charset="0"/>
                <a:ea typeface="Fira Sans" pitchFamily="34" charset="-122"/>
                <a:cs typeface="Fira Sans" pitchFamily="34" charset="-120"/>
              </a:rPr>
              <a:t>Execute</a:t>
            </a:r>
            <a:endParaRPr lang="en-US" sz="1250" dirty="0"/>
          </a:p>
        </p:txBody>
      </p:sp>
      <p:sp>
        <p:nvSpPr>
          <p:cNvPr id="6" name="Text 4"/>
          <p:cNvSpPr/>
          <p:nvPr/>
        </p:nvSpPr>
        <p:spPr>
          <a:xfrm>
            <a:off x="3454214" y="2281436"/>
            <a:ext cx="2540036" cy="206375"/>
          </a:xfrm>
          <a:prstGeom prst="rect">
            <a:avLst/>
          </a:prstGeom>
          <a:noFill/>
          <a:ln/>
        </p:spPr>
        <p:txBody>
          <a:bodyPr wrap="none" lIns="0" tIns="0" rIns="0" bIns="0" rtlCol="0" anchor="t"/>
          <a:lstStyle/>
          <a:p>
            <a:pPr algn="l" indent="0" marL="0">
              <a:lnSpc>
                <a:spcPct val="108000"/>
              </a:lnSpc>
              <a:buNone/>
            </a:pPr>
            <a:r>
              <a:rPr lang="en-US" sz="1250" dirty="0">
                <a:solidFill>
                  <a:srgbClr val="5B6577"/>
                </a:solidFill>
                <a:latin typeface="Fira Sans" pitchFamily="34" charset="0"/>
                <a:ea typeface="Fira Sans" pitchFamily="34" charset="-122"/>
                <a:cs typeface="Fira Sans" pitchFamily="34" charset="-120"/>
              </a:rPr>
              <a:t>Terminate</a:t>
            </a:r>
            <a:endParaRPr lang="en-US" sz="1250" dirty="0"/>
          </a:p>
        </p:txBody>
      </p:sp>
      <p:sp>
        <p:nvSpPr>
          <p:cNvPr id="7" name="Text 5"/>
          <p:cNvSpPr/>
          <p:nvPr/>
        </p:nvSpPr>
        <p:spPr>
          <a:xfrm>
            <a:off x="5536962" y="2281436"/>
            <a:ext cx="2540036" cy="206375"/>
          </a:xfrm>
          <a:prstGeom prst="rect">
            <a:avLst/>
          </a:prstGeom>
          <a:noFill/>
          <a:ln/>
        </p:spPr>
        <p:txBody>
          <a:bodyPr wrap="none" lIns="0" tIns="0" rIns="0" bIns="0" rtlCol="0" anchor="t"/>
          <a:lstStyle/>
          <a:p>
            <a:pPr algn="l" indent="0" marL="0">
              <a:lnSpc>
                <a:spcPct val="108000"/>
              </a:lnSpc>
              <a:buNone/>
            </a:pPr>
            <a:r>
              <a:rPr lang="en-US" sz="1250" dirty="0">
                <a:solidFill>
                  <a:srgbClr val="5B6577"/>
                </a:solidFill>
                <a:latin typeface="Fira Sans" pitchFamily="34" charset="0"/>
                <a:ea typeface="Fira Sans" pitchFamily="34" charset="-122"/>
                <a:cs typeface="Fira Sans" pitchFamily="34" charset="-120"/>
              </a:rPr>
              <a:t>Report</a:t>
            </a:r>
            <a:endParaRPr lang="en-US" sz="1250" dirty="0"/>
          </a:p>
        </p:txBody>
      </p:sp>
      <p:sp>
        <p:nvSpPr>
          <p:cNvPr id="8" name="Text 6"/>
          <p:cNvSpPr/>
          <p:nvPr/>
        </p:nvSpPr>
        <p:spPr>
          <a:xfrm>
            <a:off x="7619710" y="2281436"/>
            <a:ext cx="2540036" cy="206375"/>
          </a:xfrm>
          <a:prstGeom prst="rect">
            <a:avLst/>
          </a:prstGeom>
          <a:noFill/>
          <a:ln/>
        </p:spPr>
        <p:txBody>
          <a:bodyPr wrap="none" lIns="0" tIns="0" rIns="0" bIns="0" rtlCol="0" anchor="t"/>
          <a:lstStyle/>
          <a:p>
            <a:pPr algn="l" indent="0" marL="0">
              <a:lnSpc>
                <a:spcPct val="108000"/>
              </a:lnSpc>
              <a:buNone/>
            </a:pPr>
            <a:r>
              <a:rPr lang="en-US" sz="1250" dirty="0">
                <a:solidFill>
                  <a:srgbClr val="5B6577"/>
                </a:solidFill>
                <a:latin typeface="Fira Sans" pitchFamily="34" charset="0"/>
                <a:ea typeface="Fira Sans" pitchFamily="34" charset="-122"/>
                <a:cs typeface="Fira Sans" pitchFamily="34" charset="-120"/>
              </a:rPr>
              <a:t>Reap</a:t>
            </a:r>
            <a:endParaRPr lang="en-US" sz="1250" dirty="0"/>
          </a:p>
        </p:txBody>
      </p:sp>
      <p:sp>
        <p:nvSpPr>
          <p:cNvPr id="9" name="Text 7"/>
          <p:cNvSpPr/>
          <p:nvPr/>
        </p:nvSpPr>
        <p:spPr>
          <a:xfrm>
            <a:off x="9702458" y="2281436"/>
            <a:ext cx="2489237" cy="206375"/>
          </a:xfrm>
          <a:prstGeom prst="rect">
            <a:avLst/>
          </a:prstGeom>
          <a:noFill/>
          <a:ln/>
        </p:spPr>
        <p:txBody>
          <a:bodyPr wrap="none" lIns="0" tIns="0" rIns="0" bIns="0" rtlCol="0" anchor="t"/>
          <a:lstStyle/>
          <a:p>
            <a:pPr algn="l" indent="0" marL="0">
              <a:lnSpc>
                <a:spcPct val="108000"/>
              </a:lnSpc>
              <a:buNone/>
            </a:pPr>
            <a:r>
              <a:rPr lang="en-US" sz="1250" dirty="0">
                <a:solidFill>
                  <a:srgbClr val="5B6577"/>
                </a:solidFill>
                <a:latin typeface="Fira Sans" pitchFamily="34" charset="0"/>
                <a:ea typeface="Fira Sans" pitchFamily="34" charset="-122"/>
                <a:cs typeface="Fira Sans" pitchFamily="34" charset="-120"/>
              </a:rPr>
              <a:t>Clean up</a:t>
            </a:r>
            <a:endParaRPr lang="en-US" sz="1250" dirty="0"/>
          </a:p>
        </p:txBody>
      </p:sp>
      <p:sp>
        <p:nvSpPr>
          <p:cNvPr id="10" name="Text 8"/>
          <p:cNvSpPr/>
          <p:nvPr/>
        </p:nvSpPr>
        <p:spPr>
          <a:xfrm>
            <a:off x="1371566" y="2487811"/>
            <a:ext cx="5054474" cy="1940322"/>
          </a:xfrm>
          <a:prstGeom prst="rect">
            <a:avLst/>
          </a:prstGeom>
          <a:noFill/>
          <a:ln/>
        </p:spPr>
        <p:txBody>
          <a:bodyPr wrap="square" lIns="0" tIns="0" rIns="0" bIns="0" rtlCol="0" anchor="t">
            <a:normAutofit/>
          </a:bodyPr>
          <a:lstStyle/>
          <a:p>
            <a:pPr algn="l" marL="345440" indent="-345440">
              <a:lnSpc>
                <a:spcPct val="117000"/>
              </a:lnSpc>
              <a:buSzPct val="100000"/>
              <a:buChar char="•"/>
            </a:pPr>
            <a:r>
              <a:rPr lang="en-US" sz="1700" dirty="0">
                <a:solidFill>
                  <a:srgbClr val="1F2937"/>
                </a:solidFill>
                <a:latin typeface="Fira Sans" pitchFamily="34" charset="0"/>
                <a:ea typeface="Fira Sans" pitchFamily="34" charset="-122"/>
                <a:cs typeface="Fira Sans" pitchFamily="34" charset="-120"/>
              </a:rPr>
              <a:t>Process termination is part of the process lifecycle, not an afterthought.</a:t>
            </a:r>
            <a:endParaRPr lang="en-US" sz="1700" dirty="0"/>
          </a:p>
          <a:p>
            <a:pPr algn="l" marL="345440" indent="-345440">
              <a:lnSpc>
                <a:spcPct val="117000"/>
              </a:lnSpc>
              <a:buSzPct val="100000"/>
              <a:buChar char="•"/>
            </a:pPr>
            <a:r>
              <a:rPr lang="en-US" sz="1700" dirty="0">
                <a:solidFill>
                  <a:srgbClr val="1F2937"/>
                </a:solidFill>
                <a:latin typeface="Fira Sans" pitchFamily="34" charset="0"/>
                <a:ea typeface="Fira Sans" pitchFamily="34" charset="-122"/>
                <a:cs typeface="Fira Sans" pitchFamily="34" charset="-120"/>
              </a:rPr>
              <a:t>Termination status and messages tell the parent and the operator what happened.</a:t>
            </a:r>
            <a:endParaRPr lang="en-US" sz="1700" dirty="0"/>
          </a:p>
          <a:p>
            <a:pPr algn="l" marL="345440" indent="-345440">
              <a:lnSpc>
                <a:spcPct val="117000"/>
              </a:lnSpc>
              <a:buSzPct val="100000"/>
              <a:buChar char="•"/>
            </a:pPr>
            <a:r>
              <a:rPr lang="en-US" sz="1700" b="1" dirty="0">
                <a:solidFill>
                  <a:srgbClr val="1F2937"/>
                </a:solidFill>
                <a:latin typeface="Fira Sans Bold" pitchFamily="34" charset="0"/>
                <a:ea typeface="Fira Sans Bold" pitchFamily="34" charset="-122"/>
                <a:cs typeface="Fira Sans Bold" pitchFamily="34" charset="-120"/>
              </a:rPr>
              <a:t>exit()</a:t>
            </a:r>
            <a:pPr algn="l" marL="345440" indent="-345440">
              <a:lnSpc>
                <a:spcPct val="117000"/>
              </a:lnSpc>
              <a:buSzPct val="100000"/>
              <a:buChar char="•"/>
            </a:pPr>
            <a:r>
              <a:rPr lang="en-US" sz="1700" dirty="0">
                <a:solidFill>
                  <a:srgbClr val="1F2937"/>
                </a:solidFill>
                <a:latin typeface="Fira Sans" pitchFamily="34" charset="0"/>
                <a:ea typeface="Fira Sans" pitchFamily="34" charset="-122"/>
                <a:cs typeface="Fira Sans" pitchFamily="34" charset="-120"/>
              </a:rPr>
              <a:t>, </a:t>
            </a:r>
            <a:pPr algn="l" marL="345440" indent="-345440">
              <a:lnSpc>
                <a:spcPct val="117000"/>
              </a:lnSpc>
              <a:buSzPct val="100000"/>
              <a:buChar char="•"/>
            </a:pPr>
            <a:r>
              <a:rPr lang="en-US" sz="1700" b="1" dirty="0">
                <a:solidFill>
                  <a:srgbClr val="1F2937"/>
                </a:solidFill>
                <a:latin typeface="Fira Sans Bold" pitchFamily="34" charset="0"/>
                <a:ea typeface="Fira Sans Bold" pitchFamily="34" charset="-122"/>
                <a:cs typeface="Fira Sans Bold" pitchFamily="34" charset="-120"/>
              </a:rPr>
              <a:t>wait()</a:t>
            </a:r>
            <a:pPr algn="l" marL="345440" indent="-345440">
              <a:lnSpc>
                <a:spcPct val="117000"/>
              </a:lnSpc>
              <a:buSzPct val="100000"/>
              <a:buChar char="•"/>
            </a:pPr>
            <a:r>
              <a:rPr lang="en-US" sz="1700" dirty="0">
                <a:solidFill>
                  <a:srgbClr val="1F2937"/>
                </a:solidFill>
                <a:latin typeface="Fira Sans" pitchFamily="34" charset="0"/>
                <a:ea typeface="Fira Sans" pitchFamily="34" charset="-122"/>
                <a:cs typeface="Fira Sans" pitchFamily="34" charset="-120"/>
              </a:rPr>
              <a:t>, and </a:t>
            </a:r>
            <a:pPr algn="l" marL="345440" indent="-345440">
              <a:lnSpc>
                <a:spcPct val="117000"/>
              </a:lnSpc>
              <a:buSzPct val="100000"/>
              <a:buChar char="•"/>
            </a:pPr>
            <a:r>
              <a:rPr lang="en-US" sz="1700" b="1" dirty="0">
                <a:solidFill>
                  <a:srgbClr val="1F2937"/>
                </a:solidFill>
                <a:latin typeface="Fira Sans Bold" pitchFamily="34" charset="0"/>
                <a:ea typeface="Fira Sans Bold" pitchFamily="34" charset="-122"/>
                <a:cs typeface="Fira Sans Bold" pitchFamily="34" charset="-120"/>
              </a:rPr>
              <a:t>waitpid()</a:t>
            </a:r>
            <a:pPr algn="l" marL="345440" indent="-345440">
              <a:lnSpc>
                <a:spcPct val="117000"/>
              </a:lnSpc>
              <a:buSzPct val="100000"/>
              <a:buChar char="•"/>
            </a:pPr>
            <a:r>
              <a:rPr lang="en-US" sz="1700" dirty="0">
                <a:solidFill>
                  <a:srgbClr val="1F2937"/>
                </a:solidFill>
                <a:latin typeface="Fira Sans" pitchFamily="34" charset="0"/>
                <a:ea typeface="Fira Sans" pitchFamily="34" charset="-122"/>
                <a:cs typeface="Fira Sans" pitchFamily="34" charset="-120"/>
              </a:rPr>
              <a:t> connect child completion to parent-side handling.</a:t>
            </a:r>
            <a:endParaRPr lang="en-US" sz="1700" dirty="0"/>
          </a:p>
        </p:txBody>
      </p:sp>
      <p:sp>
        <p:nvSpPr>
          <p:cNvPr id="11" name="Text 9"/>
          <p:cNvSpPr/>
          <p:nvPr/>
        </p:nvSpPr>
        <p:spPr>
          <a:xfrm>
            <a:off x="6578435" y="2487811"/>
            <a:ext cx="5054474" cy="1574602"/>
          </a:xfrm>
          <a:prstGeom prst="rect">
            <a:avLst/>
          </a:prstGeom>
          <a:noFill/>
          <a:ln/>
        </p:spPr>
        <p:txBody>
          <a:bodyPr wrap="square" lIns="0" tIns="0" rIns="0" bIns="0" rtlCol="0" anchor="t">
            <a:normAutofit/>
          </a:bodyPr>
          <a:lstStyle/>
          <a:p>
            <a:pPr algn="l" marL="345440" indent="-345440">
              <a:lnSpc>
                <a:spcPct val="117000"/>
              </a:lnSpc>
              <a:buSzPct val="100000"/>
              <a:buChar char="•"/>
            </a:pPr>
            <a:r>
              <a:rPr lang="en-US" sz="1700" dirty="0">
                <a:solidFill>
                  <a:srgbClr val="1F2937"/>
                </a:solidFill>
                <a:latin typeface="Fira Sans" pitchFamily="34" charset="0"/>
                <a:ea typeface="Fira Sans" pitchFamily="34" charset="-122"/>
                <a:cs typeface="Fira Sans" pitchFamily="34" charset="-120"/>
              </a:rPr>
              <a:t>Resource cleanup prevents leakage and supports system stability.</a:t>
            </a:r>
            <a:endParaRPr lang="en-US" sz="1700" dirty="0"/>
          </a:p>
          <a:p>
            <a:pPr algn="l" marL="345440" indent="-345440">
              <a:lnSpc>
                <a:spcPct val="117000"/>
              </a:lnSpc>
              <a:buSzPct val="100000"/>
              <a:buChar char="•"/>
            </a:pPr>
            <a:r>
              <a:rPr lang="en-US" sz="1700" dirty="0">
                <a:solidFill>
                  <a:srgbClr val="1F2937"/>
                </a:solidFill>
                <a:latin typeface="Fira Sans" pitchFamily="34" charset="0"/>
                <a:ea typeface="Fira Sans" pitchFamily="34" charset="-122"/>
                <a:cs typeface="Fira Sans" pitchFamily="34" charset="-120"/>
              </a:rPr>
              <a:t>The overall goal is a process model that is easier to synchronize, monitor, debug, and trust.</a:t>
            </a:r>
            <a:endParaRPr lang="en-US" sz="1700" dirty="0"/>
          </a:p>
        </p:txBody>
      </p:sp>
      <p:sp>
        <p:nvSpPr>
          <p:cNvPr id="12" name="Text 10"/>
          <p:cNvSpPr/>
          <p:nvPr/>
        </p:nvSpPr>
        <p:spPr>
          <a:xfrm>
            <a:off x="1371566" y="4656733"/>
            <a:ext cx="10820129" cy="206375"/>
          </a:xfrm>
          <a:prstGeom prst="rect">
            <a:avLst/>
          </a:prstGeom>
          <a:noFill/>
          <a:ln/>
        </p:spPr>
        <p:txBody>
          <a:bodyPr wrap="none" lIns="0" tIns="0" rIns="0" bIns="0" rtlCol="0" anchor="t"/>
          <a:lstStyle/>
          <a:p>
            <a:pPr algn="l" indent="0" marL="0">
              <a:lnSpc>
                <a:spcPct val="108000"/>
              </a:lnSpc>
              <a:buNone/>
            </a:pPr>
            <a:r>
              <a:rPr lang="en-US" sz="1250" dirty="0">
                <a:solidFill>
                  <a:srgbClr val="5B6577"/>
                </a:solidFill>
                <a:latin typeface="Fira Sans" pitchFamily="34" charset="0"/>
                <a:ea typeface="Fira Sans" pitchFamily="34" charset="-122"/>
                <a:cs typeface="Fira Sans" pitchFamily="34" charset="-120"/>
              </a:rPr>
              <a:t>Execute → Terminate → Report → Reap → Clean up</a:t>
            </a:r>
            <a:endParaRPr lang="en-US" sz="1250" dirty="0"/>
          </a:p>
        </p:txBody>
      </p:sp>
      <p:sp>
        <p:nvSpPr>
          <p:cNvPr id="13" name="Text 11"/>
          <p:cNvSpPr/>
          <p:nvPr/>
        </p:nvSpPr>
        <p:spPr>
          <a:xfrm>
            <a:off x="1371566" y="5091708"/>
            <a:ext cx="10820129" cy="302220"/>
          </a:xfrm>
          <a:prstGeom prst="rect">
            <a:avLst/>
          </a:prstGeom>
          <a:noFill/>
          <a:ln/>
        </p:spPr>
        <p:txBody>
          <a:bodyPr wrap="none" lIns="0" tIns="0" rIns="0" bIns="0" rtlCol="0" anchor="t"/>
          <a:lstStyle/>
          <a:p>
            <a:pPr algn="l" indent="0" marL="0">
              <a:lnSpc>
                <a:spcPct val="117000"/>
              </a:lnSpc>
              <a:buNone/>
            </a:pPr>
            <a:r>
              <a:rPr lang="en-US" sz="1700" b="1" dirty="0">
                <a:solidFill>
                  <a:srgbClr val="1F2937"/>
                </a:solidFill>
                <a:latin typeface="Fira Sans Bold" pitchFamily="34" charset="0"/>
                <a:ea typeface="Fira Sans Bold" pitchFamily="34" charset="-122"/>
                <a:cs typeface="Fira Sans Bold" pitchFamily="34" charset="-120"/>
              </a:rPr>
              <a:t>Thank You</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2026-09-11T04:07:14Z</dcterms:created>
  <dcterms:modified xsi:type="dcterms:W3CDTF">2026-09-11T04:07:14Z</dcterms:modified>
</cp:coreProperties>
</file>